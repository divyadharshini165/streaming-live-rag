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Calibri (MS)" charset="1" panose="020F0502020204030204"/>
      <p:regular r:id="rId20"/>
    </p:embeddedFont>
    <p:embeddedFont>
      <p:font typeface="Calibri (MS) Bold" charset="1" panose="020F0702030404030204"/>
      <p:regular r:id="rId21"/>
    </p:embeddedFont>
    <p:embeddedFont>
      <p:font typeface="Arial MT Pro" charset="1" panose="020B0502020202020204"/>
      <p:regular r:id="rId22"/>
    </p:embeddedFont>
    <p:embeddedFont>
      <p:font typeface="Arial MT Pro Bold" charset="1" panose="020B0802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6411" y="1005211"/>
            <a:ext cx="3653638" cy="540868"/>
          </a:xfrm>
          <a:custGeom>
            <a:avLst/>
            <a:gdLst/>
            <a:ahLst/>
            <a:cxnLst/>
            <a:rect r="r" b="b" t="t" l="l"/>
            <a:pathLst>
              <a:path h="540868" w="3653638">
                <a:moveTo>
                  <a:pt x="0" y="0"/>
                </a:moveTo>
                <a:lnTo>
                  <a:pt x="3653638" y="0"/>
                </a:lnTo>
                <a:lnTo>
                  <a:pt x="3653638" y="540868"/>
                </a:lnTo>
                <a:lnTo>
                  <a:pt x="0" y="540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64277" y="1124264"/>
            <a:ext cx="1834515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SAMSUNG PRISM</a:t>
            </a:r>
          </a:p>
        </p:txBody>
      </p:sp>
      <p:sp>
        <p:nvSpPr>
          <p:cNvPr name="TextBox 4" id="4" descr="$PPTXTitle"/>
          <p:cNvSpPr txBox="true"/>
          <p:nvPr/>
        </p:nvSpPr>
        <p:spPr>
          <a:xfrm rot="0">
            <a:off x="1146277" y="1903047"/>
            <a:ext cx="6139815" cy="210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5"/>
              </a:lnSpc>
            </a:pPr>
            <a:r>
              <a:rPr lang="en-US" sz="7500" b="true">
                <a:solidFill>
                  <a:srgbClr val="13132A"/>
                </a:solidFill>
                <a:latin typeface="Arial Bold"/>
                <a:ea typeface="Arial Bold"/>
                <a:cs typeface="Arial Bold"/>
                <a:sym typeface="Arial Bold"/>
              </a:rPr>
              <a:t>Generative AI </a:t>
            </a:r>
            <a:r>
              <a:rPr lang="en-US" sz="7500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Hackathon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6277" y="4099493"/>
            <a:ext cx="8587201" cy="44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13132A"/>
                </a:solidFill>
                <a:latin typeface="Arial Bold"/>
                <a:ea typeface="Arial Bold"/>
                <a:cs typeface="Arial Bold"/>
                <a:sym typeface="Arial Bold"/>
              </a:rPr>
              <a:t>3rd Edition </a:t>
            </a:r>
            <a:r>
              <a:rPr lang="en-US" sz="3750">
                <a:solidFill>
                  <a:srgbClr val="62627D"/>
                </a:solidFill>
                <a:latin typeface="Arial"/>
                <a:ea typeface="Arial"/>
                <a:cs typeface="Arial"/>
                <a:sym typeface="Arial"/>
              </a:rPr>
              <a:t>2026 – 27</a:t>
            </a:r>
          </a:p>
          <a:p>
            <a:pPr algn="l">
              <a:lnSpc>
                <a:spcPts val="4500"/>
              </a:lnSpc>
            </a:pPr>
          </a:p>
          <a:p>
            <a:pPr algn="l" marL="453390" indent="-226695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2627D"/>
                </a:solidFill>
                <a:latin typeface="Calibri (MS)"/>
                <a:ea typeface="Calibri (MS)"/>
                <a:cs typeface="Calibri (MS)"/>
                <a:sym typeface="Calibri (MS)"/>
              </a:rPr>
              <a:t>Theme ID - 04 (Streaming Live RAG)</a:t>
            </a:r>
          </a:p>
          <a:p>
            <a:pPr algn="l" marL="453390" indent="-226695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2627D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- Live RAGrets</a:t>
            </a:r>
          </a:p>
          <a:p>
            <a:pPr algn="l" marL="452323" indent="-226162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2627D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Name - SRM Institute of Science and Technology, Kattankulathur</a:t>
            </a:r>
          </a:p>
          <a:p>
            <a:pPr algn="l" marL="452439" indent="-22622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2627D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1 - R Rakavi, rr2494@srmist.edu.in</a:t>
            </a:r>
          </a:p>
          <a:p>
            <a:pPr algn="l" marL="453390" indent="-226695" lvl="1">
              <a:lnSpc>
                <a:spcPts val="2879"/>
              </a:lnSpc>
              <a:buFont typeface="Arial"/>
              <a:buChar char="•"/>
            </a:pPr>
            <a:r>
              <a:rPr lang="en-US" sz="2400" spc="-15">
                <a:solidFill>
                  <a:srgbClr val="62627D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2 - K Divya Dharshini, kd3771@srmist.edu.in</a:t>
            </a:r>
          </a:p>
          <a:p>
            <a:pPr algn="l" marL="453238" indent="-226619" lvl="1">
              <a:lnSpc>
                <a:spcPts val="2879"/>
              </a:lnSpc>
              <a:buFont typeface="Arial"/>
              <a:buChar char="•"/>
            </a:pPr>
            <a:r>
              <a:rPr lang="en-US" sz="2400" spc="-14">
                <a:solidFill>
                  <a:srgbClr val="62627D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3 - Anujaa C, ac9294@srmist.edu.in</a:t>
            </a:r>
          </a:p>
          <a:p>
            <a:pPr algn="l" marL="453390" indent="-226695" lvl="1">
              <a:lnSpc>
                <a:spcPts val="2879"/>
              </a:lnSpc>
              <a:buFont typeface="Arial"/>
              <a:buChar char="•"/>
            </a:pPr>
            <a:r>
              <a:rPr lang="en-US" sz="2400" spc="-15">
                <a:solidFill>
                  <a:srgbClr val="62627D"/>
                </a:solidFill>
                <a:latin typeface="Calibri (MS)"/>
                <a:ea typeface="Calibri (MS)"/>
                <a:cs typeface="Calibri (MS)"/>
                <a:sym typeface="Calibri (MS)"/>
              </a:rPr>
              <a:t>Member 4 - Lacsita K A, lk7225@srmist.edu.in</a:t>
            </a:r>
          </a:p>
          <a:p>
            <a:pPr algn="l" marL="453390" indent="-226695" lvl="1">
              <a:lnSpc>
                <a:spcPts val="2879"/>
              </a:lnSpc>
              <a:buFont typeface="Arial"/>
              <a:buChar char="•"/>
            </a:pPr>
            <a:r>
              <a:rPr lang="en-US" sz="2400" spc="-15">
                <a:solidFill>
                  <a:srgbClr val="62627D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- github.com/divyadharshini165/streaming-live-rag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588866" y="1576788"/>
            <a:ext cx="6857467" cy="6857467"/>
            <a:chOff x="0" y="0"/>
            <a:chExt cx="9143289" cy="9143289"/>
          </a:xfrm>
        </p:grpSpPr>
        <p:sp>
          <p:nvSpPr>
            <p:cNvPr name="Freeform 7" id="7" descr="hero_network.png"/>
            <p:cNvSpPr/>
            <p:nvPr/>
          </p:nvSpPr>
          <p:spPr>
            <a:xfrm flipH="false" flipV="false" rot="0">
              <a:off x="0" y="0"/>
              <a:ext cx="9143238" cy="9143238"/>
            </a:xfrm>
            <a:custGeom>
              <a:avLst/>
              <a:gdLst/>
              <a:ahLst/>
              <a:cxnLst/>
              <a:rect r="r" b="b" t="t" l="l"/>
              <a:pathLst>
                <a:path h="9143238" w="9143238">
                  <a:moveTo>
                    <a:pt x="0" y="0"/>
                  </a:moveTo>
                  <a:lnTo>
                    <a:pt x="9143238" y="0"/>
                  </a:lnTo>
                  <a:lnTo>
                    <a:pt x="9143238" y="9143238"/>
                  </a:lnTo>
                  <a:lnTo>
                    <a:pt x="0" y="9143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1307783" y="321364"/>
            <a:ext cx="216038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 spc="-19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Theme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5820" y="1346892"/>
            <a:ext cx="16596360" cy="1743218"/>
            <a:chOff x="0" y="0"/>
            <a:chExt cx="22128480" cy="23242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28480" cy="2324418"/>
            </a:xfrm>
            <a:custGeom>
              <a:avLst/>
              <a:gdLst/>
              <a:ahLst/>
              <a:cxnLst/>
              <a:rect r="r" b="b" t="t" l="l"/>
              <a:pathLst>
                <a:path h="2324418" w="22128480">
                  <a:moveTo>
                    <a:pt x="22012529" y="0"/>
                  </a:moveTo>
                  <a:lnTo>
                    <a:pt x="115189" y="0"/>
                  </a:lnTo>
                  <a:lnTo>
                    <a:pt x="100076" y="1076"/>
                  </a:lnTo>
                  <a:lnTo>
                    <a:pt x="23622" y="54572"/>
                  </a:lnTo>
                  <a:lnTo>
                    <a:pt x="0" y="139427"/>
                  </a:lnTo>
                  <a:lnTo>
                    <a:pt x="0" y="2184864"/>
                  </a:lnTo>
                  <a:lnTo>
                    <a:pt x="889" y="2202235"/>
                  </a:lnTo>
                  <a:lnTo>
                    <a:pt x="889" y="2203157"/>
                  </a:lnTo>
                  <a:lnTo>
                    <a:pt x="45085" y="2295852"/>
                  </a:lnTo>
                  <a:lnTo>
                    <a:pt x="101346" y="2323522"/>
                  </a:lnTo>
                  <a:lnTo>
                    <a:pt x="103886" y="2323522"/>
                  </a:lnTo>
                  <a:lnTo>
                    <a:pt x="115189" y="2324418"/>
                  </a:lnTo>
                  <a:lnTo>
                    <a:pt x="22013290" y="2323522"/>
                  </a:lnTo>
                  <a:lnTo>
                    <a:pt x="22094825" y="2282785"/>
                  </a:lnTo>
                  <a:lnTo>
                    <a:pt x="22128480" y="2185018"/>
                  </a:lnTo>
                  <a:lnTo>
                    <a:pt x="22128480" y="2184095"/>
                  </a:lnTo>
                  <a:lnTo>
                    <a:pt x="22127718" y="139580"/>
                  </a:lnTo>
                  <a:lnTo>
                    <a:pt x="22094064" y="40890"/>
                  </a:lnTo>
                  <a:lnTo>
                    <a:pt x="22027642" y="1230"/>
                  </a:lnTo>
                  <a:lnTo>
                    <a:pt x="22012529" y="154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07783" y="1473646"/>
            <a:ext cx="15951518" cy="143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The Real Problem 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Normal RAG is turn-based: the user finishes a clean typed question, then the system searches, then answers. Live voice conversation is different: words arrive in small timestamped chunks, several questions hide in one breath, and people add details after they already got an answer.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427" y="3427914"/>
            <a:ext cx="4047172" cy="3155633"/>
            <a:chOff x="0" y="0"/>
            <a:chExt cx="5396230" cy="42075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5849" cy="4207002"/>
            </a:xfrm>
            <a:custGeom>
              <a:avLst/>
              <a:gdLst/>
              <a:ahLst/>
              <a:cxnLst/>
              <a:rect r="r" b="b" t="t" l="l"/>
              <a:pathLst>
                <a:path h="4207002" w="5395849">
                  <a:moveTo>
                    <a:pt x="253492" y="0"/>
                  </a:moveTo>
                  <a:lnTo>
                    <a:pt x="156591" y="19431"/>
                  </a:lnTo>
                  <a:lnTo>
                    <a:pt x="74676" y="74041"/>
                  </a:lnTo>
                  <a:lnTo>
                    <a:pt x="19812" y="156210"/>
                  </a:lnTo>
                  <a:lnTo>
                    <a:pt x="762" y="252730"/>
                  </a:lnTo>
                  <a:lnTo>
                    <a:pt x="0" y="3954272"/>
                  </a:lnTo>
                  <a:lnTo>
                    <a:pt x="2286" y="3987419"/>
                  </a:lnTo>
                  <a:lnTo>
                    <a:pt x="8890" y="4019804"/>
                  </a:lnTo>
                  <a:lnTo>
                    <a:pt x="19431" y="4050792"/>
                  </a:lnTo>
                  <a:lnTo>
                    <a:pt x="19558" y="4051046"/>
                  </a:lnTo>
                  <a:lnTo>
                    <a:pt x="74168" y="4132961"/>
                  </a:lnTo>
                  <a:lnTo>
                    <a:pt x="156337" y="4187825"/>
                  </a:lnTo>
                  <a:lnTo>
                    <a:pt x="252857" y="4207002"/>
                  </a:lnTo>
                  <a:lnTo>
                    <a:pt x="5142992" y="4207002"/>
                  </a:lnTo>
                  <a:lnTo>
                    <a:pt x="5174742" y="4204843"/>
                  </a:lnTo>
                  <a:lnTo>
                    <a:pt x="5175758" y="4204843"/>
                  </a:lnTo>
                  <a:lnTo>
                    <a:pt x="5269738" y="4173093"/>
                  </a:lnTo>
                  <a:lnTo>
                    <a:pt x="5343525" y="4107942"/>
                  </a:lnTo>
                  <a:lnTo>
                    <a:pt x="5376545" y="4050919"/>
                  </a:lnTo>
                  <a:lnTo>
                    <a:pt x="5376672" y="4050665"/>
                  </a:lnTo>
                  <a:lnTo>
                    <a:pt x="5387213" y="4019677"/>
                  </a:lnTo>
                  <a:lnTo>
                    <a:pt x="5393690" y="3987292"/>
                  </a:lnTo>
                  <a:lnTo>
                    <a:pt x="5395849" y="3954145"/>
                  </a:lnTo>
                  <a:lnTo>
                    <a:pt x="5395849" y="252603"/>
                  </a:lnTo>
                  <a:lnTo>
                    <a:pt x="5376418" y="156464"/>
                  </a:lnTo>
                  <a:lnTo>
                    <a:pt x="5321808" y="74549"/>
                  </a:lnTo>
                  <a:lnTo>
                    <a:pt x="5239639" y="19685"/>
                  </a:lnTo>
                  <a:lnTo>
                    <a:pt x="5143119" y="508"/>
                  </a:lnTo>
                  <a:lnTo>
                    <a:pt x="253492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3156" y="3517725"/>
            <a:ext cx="3520440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1. Latency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399"/>
              </a:lnSpc>
            </a:pPr>
            <a:r>
              <a:rPr lang="en-US" sz="1999" spc="-13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The system waits for the speaker to stop, adding seconds of dead silence before search even starts.</a:t>
            </a:r>
          </a:p>
          <a:p>
            <a:pPr algn="l">
              <a:lnSpc>
                <a:spcPts val="2399"/>
              </a:lnSpc>
            </a:pPr>
          </a:p>
          <a:p>
            <a:pPr algn="l">
              <a:lnSpc>
                <a:spcPts val="2399"/>
              </a:lnSpc>
            </a:pPr>
            <a:r>
              <a:rPr lang="en-US" sz="19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Fix: Retrieval Controller fires early.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005807" y="3427914"/>
            <a:ext cx="4047172" cy="3155632"/>
          </a:xfrm>
          <a:custGeom>
            <a:avLst/>
            <a:gdLst/>
            <a:ahLst/>
            <a:cxnLst/>
            <a:rect r="r" b="b" t="t" l="l"/>
            <a:pathLst>
              <a:path h="3155632" w="4047172">
                <a:moveTo>
                  <a:pt x="0" y="0"/>
                </a:moveTo>
                <a:lnTo>
                  <a:pt x="4047172" y="0"/>
                </a:lnTo>
                <a:lnTo>
                  <a:pt x="4047172" y="3155633"/>
                </a:lnTo>
                <a:lnTo>
                  <a:pt x="0" y="31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74761" y="3517725"/>
            <a:ext cx="3681051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15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2. Multi-intent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279"/>
              </a:lnSpc>
            </a:pPr>
            <a:r>
              <a:rPr lang="en-US" sz="1899" spc="-13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One sentence can hold three questions: venue capacity, cancellation terms, catering.</a:t>
            </a:r>
          </a:p>
          <a:p>
            <a:pPr algn="l">
              <a:lnSpc>
                <a:spcPts val="2279"/>
              </a:lnSpc>
            </a:pPr>
          </a:p>
          <a:p>
            <a:pPr algn="l">
              <a:lnSpc>
                <a:spcPts val="2279"/>
              </a:lnSpc>
            </a:pPr>
          </a:p>
          <a:p>
            <a:pPr algn="l">
              <a:lnSpc>
                <a:spcPts val="2279"/>
              </a:lnSpc>
            </a:pPr>
            <a:r>
              <a:rPr lang="en-US" sz="1899" spc="-13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Fix: Decomposer splits and searches in parallel.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89187" y="3427914"/>
            <a:ext cx="4047172" cy="3155633"/>
            <a:chOff x="0" y="0"/>
            <a:chExt cx="5396230" cy="4207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5849" cy="4207002"/>
            </a:xfrm>
            <a:custGeom>
              <a:avLst/>
              <a:gdLst/>
              <a:ahLst/>
              <a:cxnLst/>
              <a:rect r="r" b="b" t="t" l="l"/>
              <a:pathLst>
                <a:path h="4207002" w="5395849">
                  <a:moveTo>
                    <a:pt x="253492" y="0"/>
                  </a:moveTo>
                  <a:lnTo>
                    <a:pt x="156591" y="19431"/>
                  </a:lnTo>
                  <a:lnTo>
                    <a:pt x="74676" y="74041"/>
                  </a:lnTo>
                  <a:lnTo>
                    <a:pt x="19812" y="156210"/>
                  </a:lnTo>
                  <a:lnTo>
                    <a:pt x="762" y="252730"/>
                  </a:lnTo>
                  <a:lnTo>
                    <a:pt x="0" y="3954272"/>
                  </a:lnTo>
                  <a:lnTo>
                    <a:pt x="2286" y="3987419"/>
                  </a:lnTo>
                  <a:lnTo>
                    <a:pt x="8890" y="4019804"/>
                  </a:lnTo>
                  <a:lnTo>
                    <a:pt x="19431" y="4050792"/>
                  </a:lnTo>
                  <a:lnTo>
                    <a:pt x="19558" y="4051046"/>
                  </a:lnTo>
                  <a:lnTo>
                    <a:pt x="74168" y="4132961"/>
                  </a:lnTo>
                  <a:lnTo>
                    <a:pt x="156337" y="4187825"/>
                  </a:lnTo>
                  <a:lnTo>
                    <a:pt x="252857" y="4207002"/>
                  </a:lnTo>
                  <a:lnTo>
                    <a:pt x="5142992" y="4207002"/>
                  </a:lnTo>
                  <a:lnTo>
                    <a:pt x="5174742" y="4204843"/>
                  </a:lnTo>
                  <a:lnTo>
                    <a:pt x="5175758" y="4204843"/>
                  </a:lnTo>
                  <a:lnTo>
                    <a:pt x="5269738" y="4173093"/>
                  </a:lnTo>
                  <a:lnTo>
                    <a:pt x="5343525" y="4107942"/>
                  </a:lnTo>
                  <a:lnTo>
                    <a:pt x="5387213" y="4019677"/>
                  </a:lnTo>
                  <a:lnTo>
                    <a:pt x="5395849" y="3954145"/>
                  </a:lnTo>
                  <a:lnTo>
                    <a:pt x="5395849" y="252603"/>
                  </a:lnTo>
                  <a:lnTo>
                    <a:pt x="5376418" y="156464"/>
                  </a:lnTo>
                  <a:lnTo>
                    <a:pt x="5321808" y="74549"/>
                  </a:lnTo>
                  <a:lnTo>
                    <a:pt x="5239639" y="19685"/>
                  </a:lnTo>
                  <a:lnTo>
                    <a:pt x="5143119" y="508"/>
                  </a:lnTo>
                  <a:lnTo>
                    <a:pt x="253492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389916" y="3517725"/>
            <a:ext cx="3414712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15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3. Late details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279"/>
              </a:lnSpc>
            </a:pPr>
            <a:r>
              <a:rPr lang="en-US" sz="1899" spc="-13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'Actually the trip was international and booked after travel' should update the answer, not restart it.</a:t>
            </a:r>
          </a:p>
          <a:p>
            <a:pPr algn="l">
              <a:lnSpc>
                <a:spcPts val="2279"/>
              </a:lnSpc>
            </a:pPr>
          </a:p>
          <a:p>
            <a:pPr algn="l">
              <a:lnSpc>
                <a:spcPts val="2279"/>
              </a:lnSpc>
            </a:pPr>
            <a:r>
              <a:rPr lang="en-US" sz="1899" spc="-13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Fix: versioned answers v1 to v2.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372567" y="3427914"/>
            <a:ext cx="4047172" cy="3155633"/>
            <a:chOff x="0" y="0"/>
            <a:chExt cx="5396230" cy="42075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95849" cy="4207002"/>
            </a:xfrm>
            <a:custGeom>
              <a:avLst/>
              <a:gdLst/>
              <a:ahLst/>
              <a:cxnLst/>
              <a:rect r="r" b="b" t="t" l="l"/>
              <a:pathLst>
                <a:path h="4207002" w="5395849">
                  <a:moveTo>
                    <a:pt x="253492" y="0"/>
                  </a:moveTo>
                  <a:lnTo>
                    <a:pt x="156591" y="19431"/>
                  </a:lnTo>
                  <a:lnTo>
                    <a:pt x="74676" y="74041"/>
                  </a:lnTo>
                  <a:lnTo>
                    <a:pt x="19812" y="156210"/>
                  </a:lnTo>
                  <a:lnTo>
                    <a:pt x="762" y="252730"/>
                  </a:lnTo>
                  <a:lnTo>
                    <a:pt x="0" y="3954272"/>
                  </a:lnTo>
                  <a:lnTo>
                    <a:pt x="2286" y="3987419"/>
                  </a:lnTo>
                  <a:lnTo>
                    <a:pt x="33909" y="4081018"/>
                  </a:lnTo>
                  <a:lnTo>
                    <a:pt x="52197" y="4108069"/>
                  </a:lnTo>
                  <a:lnTo>
                    <a:pt x="52451" y="4108323"/>
                  </a:lnTo>
                  <a:lnTo>
                    <a:pt x="126873" y="4173093"/>
                  </a:lnTo>
                  <a:lnTo>
                    <a:pt x="219710" y="4204843"/>
                  </a:lnTo>
                  <a:lnTo>
                    <a:pt x="252857" y="4207002"/>
                  </a:lnTo>
                  <a:lnTo>
                    <a:pt x="5142992" y="4207002"/>
                  </a:lnTo>
                  <a:lnTo>
                    <a:pt x="5174742" y="4204843"/>
                  </a:lnTo>
                  <a:lnTo>
                    <a:pt x="5175758" y="4204843"/>
                  </a:lnTo>
                  <a:lnTo>
                    <a:pt x="5269738" y="4173093"/>
                  </a:lnTo>
                  <a:lnTo>
                    <a:pt x="5343525" y="4107942"/>
                  </a:lnTo>
                  <a:lnTo>
                    <a:pt x="5387213" y="4019677"/>
                  </a:lnTo>
                  <a:lnTo>
                    <a:pt x="5395849" y="3954145"/>
                  </a:lnTo>
                  <a:lnTo>
                    <a:pt x="5395849" y="252603"/>
                  </a:lnTo>
                  <a:lnTo>
                    <a:pt x="5376418" y="156464"/>
                  </a:lnTo>
                  <a:lnTo>
                    <a:pt x="5321808" y="74549"/>
                  </a:lnTo>
                  <a:lnTo>
                    <a:pt x="5239639" y="19685"/>
                  </a:lnTo>
                  <a:lnTo>
                    <a:pt x="5143119" y="508"/>
                  </a:lnTo>
                  <a:lnTo>
                    <a:pt x="253492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541159" y="3510505"/>
            <a:ext cx="3573780" cy="273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2"/>
              </a:lnSpc>
            </a:pPr>
            <a:r>
              <a:rPr lang="en-US" sz="209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4. No-search turns </a:t>
            </a:r>
          </a:p>
          <a:p>
            <a:pPr algn="l">
              <a:lnSpc>
                <a:spcPts val="2742"/>
              </a:lnSpc>
            </a:pPr>
          </a:p>
          <a:p>
            <a:pPr algn="l">
              <a:lnSpc>
                <a:spcPts val="2742"/>
              </a:lnSpc>
            </a:pPr>
            <a:r>
              <a:rPr lang="en-US" sz="20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'Repeat that in two bullets' needs a reformat, not a new search.</a:t>
            </a:r>
          </a:p>
          <a:p>
            <a:pPr algn="l">
              <a:lnSpc>
                <a:spcPts val="2744"/>
              </a:lnSpc>
            </a:pPr>
          </a:p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Fix: controller suppresses retrieval.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427" y="6788887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-127"/>
              <a:ext cx="22128353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353">
                  <a:moveTo>
                    <a:pt x="22029165" y="127"/>
                  </a:moveTo>
                  <a:lnTo>
                    <a:pt x="81407" y="127"/>
                  </a:lnTo>
                  <a:lnTo>
                    <a:pt x="64008" y="4445"/>
                  </a:lnTo>
                  <a:lnTo>
                    <a:pt x="7239" y="60833"/>
                  </a:lnTo>
                  <a:lnTo>
                    <a:pt x="0" y="98806"/>
                  </a:lnTo>
                  <a:lnTo>
                    <a:pt x="0" y="1564640"/>
                  </a:lnTo>
                  <a:lnTo>
                    <a:pt x="48895" y="1632966"/>
                  </a:lnTo>
                  <a:lnTo>
                    <a:pt x="85979" y="1645158"/>
                  </a:lnTo>
                  <a:lnTo>
                    <a:pt x="86741" y="1645158"/>
                  </a:lnTo>
                  <a:lnTo>
                    <a:pt x="98552" y="1645920"/>
                  </a:lnTo>
                  <a:lnTo>
                    <a:pt x="22047073" y="1645158"/>
                  </a:lnTo>
                  <a:lnTo>
                    <a:pt x="22115399" y="1596263"/>
                  </a:lnTo>
                  <a:lnTo>
                    <a:pt x="22128353" y="1546606"/>
                  </a:lnTo>
                  <a:lnTo>
                    <a:pt x="22127590" y="98679"/>
                  </a:lnTo>
                  <a:lnTo>
                    <a:pt x="22127590" y="81407"/>
                  </a:lnTo>
                  <a:lnTo>
                    <a:pt x="22078696" y="12954"/>
                  </a:lnTo>
                  <a:lnTo>
                    <a:pt x="22041993" y="762"/>
                  </a:lnTo>
                  <a:lnTo>
                    <a:pt x="22029038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427" y="8201520"/>
            <a:ext cx="16596360" cy="1371600"/>
            <a:chOff x="0" y="0"/>
            <a:chExt cx="2212848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-127"/>
              <a:ext cx="22128607" cy="1828927"/>
            </a:xfrm>
            <a:custGeom>
              <a:avLst/>
              <a:gdLst/>
              <a:ahLst/>
              <a:cxnLst/>
              <a:rect r="r" b="b" t="t" l="l"/>
              <a:pathLst>
                <a:path h="1828927" w="22128607">
                  <a:moveTo>
                    <a:pt x="22018371" y="127"/>
                  </a:moveTo>
                  <a:lnTo>
                    <a:pt x="109474" y="127"/>
                  </a:lnTo>
                  <a:lnTo>
                    <a:pt x="95250" y="1016"/>
                  </a:lnTo>
                  <a:lnTo>
                    <a:pt x="22479" y="42926"/>
                  </a:lnTo>
                  <a:lnTo>
                    <a:pt x="0" y="109601"/>
                  </a:lnTo>
                  <a:lnTo>
                    <a:pt x="0" y="1719453"/>
                  </a:lnTo>
                  <a:lnTo>
                    <a:pt x="8001" y="1760601"/>
                  </a:lnTo>
                  <a:lnTo>
                    <a:pt x="8255" y="1761236"/>
                  </a:lnTo>
                  <a:lnTo>
                    <a:pt x="67564" y="1820672"/>
                  </a:lnTo>
                  <a:lnTo>
                    <a:pt x="96139" y="1828165"/>
                  </a:lnTo>
                  <a:lnTo>
                    <a:pt x="98425" y="1828165"/>
                  </a:lnTo>
                  <a:lnTo>
                    <a:pt x="109474" y="1828927"/>
                  </a:lnTo>
                  <a:lnTo>
                    <a:pt x="22019133" y="1828165"/>
                  </a:lnTo>
                  <a:lnTo>
                    <a:pt x="22096476" y="1796288"/>
                  </a:lnTo>
                  <a:lnTo>
                    <a:pt x="22124798" y="1747647"/>
                  </a:lnTo>
                  <a:lnTo>
                    <a:pt x="22124924" y="1747139"/>
                  </a:lnTo>
                  <a:lnTo>
                    <a:pt x="22127592" y="1733550"/>
                  </a:lnTo>
                  <a:lnTo>
                    <a:pt x="22127719" y="1733169"/>
                  </a:lnTo>
                  <a:lnTo>
                    <a:pt x="22128607" y="1719453"/>
                  </a:lnTo>
                  <a:lnTo>
                    <a:pt x="22128607" y="1718691"/>
                  </a:lnTo>
                  <a:lnTo>
                    <a:pt x="22127846" y="109474"/>
                  </a:lnTo>
                  <a:lnTo>
                    <a:pt x="22095969" y="32131"/>
                  </a:lnTo>
                  <a:lnTo>
                    <a:pt x="22032849" y="889"/>
                  </a:lnTo>
                  <a:lnTo>
                    <a:pt x="22018372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1286" y="6867154"/>
            <a:ext cx="16186785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Grounding rule: every fact carries a [Doc_ID §section] citation; if the corpus lacks the answer the system says so in an explicit uncertainty field. No web search, no LLM guesses.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What we must build</a:t>
            </a:r>
          </a:p>
          <a:p>
            <a:pPr algn="l">
              <a:lnSpc>
                <a:spcPts val="2519"/>
              </a:lnSpc>
            </a:pPr>
            <a:r>
              <a:rPr lang="en-US" sz="20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 Streaming Live RAG Engine: Controller, Multi-Intent Decomposer, Hybrid Retrieval + Fusion, Session-Aware Synthesis and Telemetry, judged on gates G1-G6 (one-command run, early retrieval, multi-intent, grounding, refinement, logging) using only the corpus provided.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814861" y="586261"/>
            <a:ext cx="600194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Solutions &amp; Gaps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14861" y="1843562"/>
          <a:ext cx="16592550" cy="4572000"/>
        </p:xfrm>
        <a:graphic>
          <a:graphicData uri="http://schemas.openxmlformats.org/drawingml/2006/table">
            <a:tbl>
              <a:tblPr/>
              <a:tblGrid>
                <a:gridCol w="3578785"/>
                <a:gridCol w="5485453"/>
                <a:gridCol w="7528312"/>
              </a:tblGrid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Existing approach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How it works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Gap for live speech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Classic turn-based RAG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Waits for the full question, one search, one answer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Adds full silence latency; cannot split multi-part sentences; restarts on follow-ups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Naive streaming RAG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Searches on every incoming chunk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Wasted searches on unclear fragments; noisy, costly; no answer memory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Single-query voice assistants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Treat the utterance as one query string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Compound questions retrieve one blurred result set; partial answers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Heavy multi-agent pipelines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Many LLM agents plan, retrieve, critique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1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High token cost and latency; hard to audit; explicitly not rewarded by the guide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Ungrounded LLM answers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Model answers from its own memory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Hallucinated facts, no citations, fails the grounding gate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822427" y="6789420"/>
            <a:ext cx="5156835" cy="2578418"/>
          </a:xfrm>
          <a:custGeom>
            <a:avLst/>
            <a:gdLst/>
            <a:ahLst/>
            <a:cxnLst/>
            <a:rect r="r" b="b" t="t" l="l"/>
            <a:pathLst>
              <a:path h="2578418" w="5156835">
                <a:moveTo>
                  <a:pt x="0" y="0"/>
                </a:moveTo>
                <a:lnTo>
                  <a:pt x="5156835" y="0"/>
                </a:lnTo>
                <a:lnTo>
                  <a:pt x="5156835" y="2578418"/>
                </a:lnTo>
                <a:lnTo>
                  <a:pt x="0" y="2578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4832" y="7059158"/>
            <a:ext cx="4831080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Our gap-closing idea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Decide when to search, not just what to search: Wait / Retrieve / Suppress per chunk.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445987" y="6789420"/>
            <a:ext cx="5349240" cy="2674620"/>
            <a:chOff x="0" y="0"/>
            <a:chExt cx="7132320" cy="3566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32065" cy="3566160"/>
            </a:xfrm>
            <a:custGeom>
              <a:avLst/>
              <a:gdLst/>
              <a:ahLst/>
              <a:cxnLst/>
              <a:rect r="r" b="b" t="t" l="l"/>
              <a:pathLst>
                <a:path h="3566160" w="7132065">
                  <a:moveTo>
                    <a:pt x="6917690" y="0"/>
                  </a:moveTo>
                  <a:lnTo>
                    <a:pt x="213868" y="0"/>
                  </a:lnTo>
                  <a:lnTo>
                    <a:pt x="185928" y="1905"/>
                  </a:lnTo>
                  <a:lnTo>
                    <a:pt x="107188" y="28829"/>
                  </a:lnTo>
                  <a:lnTo>
                    <a:pt x="44196" y="83439"/>
                  </a:lnTo>
                  <a:lnTo>
                    <a:pt x="7366" y="158623"/>
                  </a:lnTo>
                  <a:lnTo>
                    <a:pt x="0" y="213868"/>
                  </a:lnTo>
                  <a:lnTo>
                    <a:pt x="0" y="3352292"/>
                  </a:lnTo>
                  <a:lnTo>
                    <a:pt x="1778" y="3379470"/>
                  </a:lnTo>
                  <a:lnTo>
                    <a:pt x="1778" y="3380232"/>
                  </a:lnTo>
                  <a:lnTo>
                    <a:pt x="28702" y="3458845"/>
                  </a:lnTo>
                  <a:lnTo>
                    <a:pt x="83312" y="3521837"/>
                  </a:lnTo>
                  <a:lnTo>
                    <a:pt x="158496" y="3558794"/>
                  </a:lnTo>
                  <a:lnTo>
                    <a:pt x="213741" y="3566160"/>
                  </a:lnTo>
                  <a:lnTo>
                    <a:pt x="6918325" y="3565398"/>
                  </a:lnTo>
                  <a:lnTo>
                    <a:pt x="6999859" y="3549015"/>
                  </a:lnTo>
                  <a:lnTo>
                    <a:pt x="7069582" y="3502914"/>
                  </a:lnTo>
                  <a:lnTo>
                    <a:pt x="7115556" y="3433826"/>
                  </a:lnTo>
                  <a:lnTo>
                    <a:pt x="7130161" y="3380232"/>
                  </a:lnTo>
                  <a:lnTo>
                    <a:pt x="7130288" y="3379470"/>
                  </a:lnTo>
                  <a:lnTo>
                    <a:pt x="7132065" y="3352292"/>
                  </a:lnTo>
                  <a:lnTo>
                    <a:pt x="7132065" y="3351530"/>
                  </a:lnTo>
                  <a:lnTo>
                    <a:pt x="7131303" y="213741"/>
                  </a:lnTo>
                  <a:lnTo>
                    <a:pt x="7114921" y="132207"/>
                  </a:lnTo>
                  <a:lnTo>
                    <a:pt x="7068820" y="62484"/>
                  </a:lnTo>
                  <a:lnTo>
                    <a:pt x="6999351" y="16256"/>
                  </a:lnTo>
                  <a:lnTo>
                    <a:pt x="6945630" y="1905"/>
                  </a:lnTo>
                  <a:lnTo>
                    <a:pt x="6917690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08864" y="7059158"/>
            <a:ext cx="4831080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Cheap by design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Rule-based controller, one optional LLM call, local embeddings. Every component justifies its cost.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069547" y="6789420"/>
            <a:ext cx="5349240" cy="2674620"/>
          </a:xfrm>
          <a:custGeom>
            <a:avLst/>
            <a:gdLst/>
            <a:ahLst/>
            <a:cxnLst/>
            <a:rect r="r" b="b" t="t" l="l"/>
            <a:pathLst>
              <a:path h="2674620" w="5349240">
                <a:moveTo>
                  <a:pt x="0" y="0"/>
                </a:moveTo>
                <a:lnTo>
                  <a:pt x="5349240" y="0"/>
                </a:lnTo>
                <a:lnTo>
                  <a:pt x="5349240" y="2674620"/>
                </a:lnTo>
                <a:lnTo>
                  <a:pt x="0" y="2674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261952" y="7059158"/>
            <a:ext cx="4876800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16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Auditable</a:t>
            </a:r>
          </a:p>
          <a:p>
            <a:pPr algn="ctr">
              <a:lnSpc>
                <a:spcPts val="2759"/>
              </a:lnSpc>
            </a:pPr>
          </a:p>
          <a:p>
            <a:pPr algn="l">
              <a:lnSpc>
                <a:spcPts val="2519"/>
              </a:lnSpc>
            </a:pPr>
            <a:r>
              <a:rPr lang="en-US" sz="20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Every event, query, citation, answer version and token cost is logged as JSONL.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1375239" y="540439"/>
            <a:ext cx="10566082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 spc="-14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Solutions &amp; Architecture Diagram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2427" y="1782547"/>
            <a:ext cx="16596360" cy="685800"/>
            <a:chOff x="0" y="0"/>
            <a:chExt cx="22128480" cy="91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-127"/>
              <a:ext cx="22128480" cy="914527"/>
            </a:xfrm>
            <a:custGeom>
              <a:avLst/>
              <a:gdLst/>
              <a:ahLst/>
              <a:cxnLst/>
              <a:rect r="r" b="b" t="t" l="l"/>
              <a:pathLst>
                <a:path h="914527" w="22128480">
                  <a:moveTo>
                    <a:pt x="22082379" y="127"/>
                  </a:moveTo>
                  <a:lnTo>
                    <a:pt x="45339" y="127"/>
                  </a:lnTo>
                  <a:lnTo>
                    <a:pt x="35941" y="2286"/>
                  </a:lnTo>
                  <a:lnTo>
                    <a:pt x="0" y="45466"/>
                  </a:lnTo>
                  <a:lnTo>
                    <a:pt x="0" y="869188"/>
                  </a:lnTo>
                  <a:lnTo>
                    <a:pt x="45339" y="914527"/>
                  </a:lnTo>
                  <a:lnTo>
                    <a:pt x="22083140" y="913765"/>
                  </a:lnTo>
                  <a:lnTo>
                    <a:pt x="22128480" y="859028"/>
                  </a:lnTo>
                  <a:lnTo>
                    <a:pt x="22127718" y="54737"/>
                  </a:lnTo>
                  <a:lnTo>
                    <a:pt x="22127718" y="45339"/>
                  </a:lnTo>
                  <a:lnTo>
                    <a:pt x="22092413" y="2921"/>
                  </a:lnTo>
                  <a:lnTo>
                    <a:pt x="22082379" y="0"/>
                  </a:lnTo>
                  <a:close/>
                </a:path>
              </a:pathLst>
            </a:custGeom>
            <a:solidFill>
              <a:srgbClr val="6C27D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767355" y="1949186"/>
            <a:ext cx="12682538" cy="35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INPUT: transcript chunks with timestamps (0.0s, 0.8s, 1.6s...), from real ASR or the built-in simulator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22960" y="2674620"/>
            <a:ext cx="3771900" cy="3771900"/>
          </a:xfrm>
          <a:custGeom>
            <a:avLst/>
            <a:gdLst/>
            <a:ahLst/>
            <a:cxnLst/>
            <a:rect r="r" b="b" t="t" l="l"/>
            <a:pathLst>
              <a:path h="3771900" w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33958" y="2784186"/>
            <a:ext cx="3335236" cy="341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1 Retrieval Controller</a:t>
            </a:r>
          </a:p>
          <a:p>
            <a:pPr algn="l">
              <a:lnSpc>
                <a:spcPts val="2999"/>
              </a:lnSpc>
            </a:pPr>
          </a:p>
          <a:p>
            <a:pPr algn="l" marL="421425" indent="-210713" lvl="1">
              <a:lnSpc>
                <a:spcPts val="2639"/>
              </a:lnSpc>
              <a:buFont typeface="Arial"/>
              <a:buChar char="•"/>
            </a:pPr>
            <a:r>
              <a:rPr lang="en-US" sz="219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Per chunk: WAIT, RETRIEVE or SUPPRESS</a:t>
            </a:r>
          </a:p>
          <a:p>
            <a:pPr algn="l" marL="421425" indent="-210713" lvl="1">
              <a:lnSpc>
                <a:spcPts val="2639"/>
              </a:lnSpc>
              <a:buFont typeface="Arial"/>
              <a:buChar char="•"/>
            </a:pPr>
            <a:r>
              <a:rPr lang="en-US" sz="219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Needs clear topic + entity to fire early</a:t>
            </a:r>
          </a:p>
          <a:p>
            <a:pPr algn="l" marL="421425" indent="-210713" lvl="1">
              <a:lnSpc>
                <a:spcPts val="2639"/>
              </a:lnSpc>
              <a:buFont typeface="Arial"/>
              <a:buChar char="•"/>
            </a:pPr>
            <a:r>
              <a:rPr lang="en-US" sz="219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Skips 'repeat', 'shorten', small talk</a:t>
            </a:r>
          </a:p>
          <a:p>
            <a:pPr algn="l" marL="421425" indent="-210713" lvl="1">
              <a:lnSpc>
                <a:spcPts val="2639"/>
              </a:lnSpc>
              <a:buFont typeface="Arial"/>
              <a:buChar char="•"/>
            </a:pPr>
            <a:r>
              <a:rPr lang="en-US" sz="219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Detects late-detail turns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635894" y="2674620"/>
            <a:ext cx="4210926" cy="3771900"/>
          </a:xfrm>
          <a:custGeom>
            <a:avLst/>
            <a:gdLst/>
            <a:ahLst/>
            <a:cxnLst/>
            <a:rect r="r" b="b" t="t" l="l"/>
            <a:pathLst>
              <a:path h="3771900" w="4210926">
                <a:moveTo>
                  <a:pt x="0" y="0"/>
                </a:moveTo>
                <a:lnTo>
                  <a:pt x="4210926" y="0"/>
                </a:lnTo>
                <a:lnTo>
                  <a:pt x="4210926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50683" y="2806703"/>
            <a:ext cx="3366607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2 Multi-Intent Decomposer</a:t>
            </a:r>
          </a:p>
          <a:p>
            <a:pPr algn="l">
              <a:lnSpc>
                <a:spcPts val="2879"/>
              </a:lnSpc>
            </a:pPr>
          </a:p>
          <a:p>
            <a:pPr algn="l" marL="402270" indent="-201135" lvl="1">
              <a:lnSpc>
                <a:spcPts val="2519"/>
              </a:lnSpc>
              <a:buFont typeface="Arial"/>
              <a:buChar char="•"/>
            </a:pPr>
            <a:r>
              <a:rPr lang="en-US" sz="20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Splits one sentence into sub-queries</a:t>
            </a:r>
          </a:p>
          <a:p>
            <a:pPr algn="l" marL="402270" indent="-201135" lvl="1">
              <a:lnSpc>
                <a:spcPts val="2519"/>
              </a:lnSpc>
              <a:buFont typeface="Arial"/>
              <a:buChar char="•"/>
            </a:pPr>
            <a:r>
              <a:rPr lang="en-US" sz="20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LLM JSON output, rule fallback</a:t>
            </a:r>
          </a:p>
          <a:p>
            <a:pPr algn="l" marL="402270" indent="-201135" lvl="1">
              <a:lnSpc>
                <a:spcPts val="2519"/>
              </a:lnSpc>
              <a:buFont typeface="Arial"/>
              <a:buChar char="•"/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Sub-queries run in parallel</a:t>
            </a:r>
          </a:p>
          <a:p>
            <a:pPr algn="l" marL="402270" indent="-201135" lvl="1">
              <a:lnSpc>
                <a:spcPts val="2519"/>
              </a:lnSpc>
              <a:buFont typeface="Arial"/>
              <a:buChar char="•"/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Merges late detail into prior intent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887854" y="2674620"/>
            <a:ext cx="4210926" cy="3771900"/>
          </a:xfrm>
          <a:custGeom>
            <a:avLst/>
            <a:gdLst/>
            <a:ahLst/>
            <a:cxnLst/>
            <a:rect r="r" b="b" t="t" l="l"/>
            <a:pathLst>
              <a:path h="3771900" w="4210926">
                <a:moveTo>
                  <a:pt x="0" y="0"/>
                </a:moveTo>
                <a:lnTo>
                  <a:pt x="4210926" y="0"/>
                </a:lnTo>
                <a:lnTo>
                  <a:pt x="4210926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37878" y="2806703"/>
            <a:ext cx="3284220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3 Hybrid Retrieval + Fusion</a:t>
            </a:r>
          </a:p>
          <a:p>
            <a:pPr algn="l">
              <a:lnSpc>
                <a:spcPts val="2879"/>
              </a:lnSpc>
            </a:pPr>
          </a:p>
          <a:p>
            <a:pPr algn="l" marL="402270" indent="-201135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BM25 sparse + bge-small dense (FAISS)</a:t>
            </a:r>
          </a:p>
          <a:p>
            <a:pPr algn="l" marL="402270" indent="-201135" lvl="1">
              <a:lnSpc>
                <a:spcPts val="2519"/>
              </a:lnSpc>
              <a:buFont typeface="Arial"/>
              <a:buChar char="•"/>
            </a:pPr>
            <a:r>
              <a:rPr lang="en-US" sz="20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Reciprocal Rank Fusion (RRF)</a:t>
            </a:r>
          </a:p>
          <a:p>
            <a:pPr algn="l" marL="402270" indent="-201135" lvl="1">
              <a:lnSpc>
                <a:spcPts val="2519"/>
              </a:lnSpc>
              <a:buFont typeface="Arial"/>
              <a:buChar char="•"/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Rerank and de-duplicate</a:t>
            </a:r>
          </a:p>
          <a:p>
            <a:pPr algn="l" marL="402270" indent="-201135" lvl="1">
              <a:lnSpc>
                <a:spcPts val="2519"/>
              </a:lnSpc>
              <a:buFont typeface="Arial"/>
              <a:buChar char="•"/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Chunk IDs like Doc_08 §2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139814" y="2674620"/>
            <a:ext cx="4210926" cy="3771900"/>
          </a:xfrm>
          <a:custGeom>
            <a:avLst/>
            <a:gdLst/>
            <a:ahLst/>
            <a:cxnLst/>
            <a:rect r="r" b="b" t="t" l="l"/>
            <a:pathLst>
              <a:path h="3771900" w="4210926">
                <a:moveTo>
                  <a:pt x="0" y="0"/>
                </a:moveTo>
                <a:lnTo>
                  <a:pt x="4210926" y="0"/>
                </a:lnTo>
                <a:lnTo>
                  <a:pt x="4210926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789838" y="2797178"/>
            <a:ext cx="3092767" cy="34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4 Session-Aware Synthesis</a:t>
            </a:r>
          </a:p>
          <a:p>
            <a:pPr algn="l">
              <a:lnSpc>
                <a:spcPts val="2759"/>
              </a:lnSpc>
            </a:pP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Answer only from retrieved chunks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Cite every fact, strip fake IDs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Uncertainty field if not found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v1 to v2 with kept/added lineage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427" y="6651727"/>
            <a:ext cx="16596360" cy="822960"/>
            <a:chOff x="0" y="0"/>
            <a:chExt cx="221284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22073743" y="0"/>
                  </a:moveTo>
                  <a:lnTo>
                    <a:pt x="53975" y="0"/>
                  </a:lnTo>
                  <a:lnTo>
                    <a:pt x="43180" y="2921"/>
                  </a:lnTo>
                  <a:lnTo>
                    <a:pt x="22987" y="14478"/>
                  </a:lnTo>
                  <a:lnTo>
                    <a:pt x="14351" y="22352"/>
                  </a:lnTo>
                  <a:lnTo>
                    <a:pt x="2921" y="42418"/>
                  </a:lnTo>
                  <a:lnTo>
                    <a:pt x="0" y="53975"/>
                  </a:lnTo>
                  <a:lnTo>
                    <a:pt x="0" y="1043305"/>
                  </a:lnTo>
                  <a:lnTo>
                    <a:pt x="53975" y="1097280"/>
                  </a:lnTo>
                  <a:lnTo>
                    <a:pt x="22074505" y="1096518"/>
                  </a:lnTo>
                  <a:lnTo>
                    <a:pt x="22128480" y="1030986"/>
                  </a:lnTo>
                  <a:lnTo>
                    <a:pt x="22127719" y="65405"/>
                  </a:lnTo>
                  <a:lnTo>
                    <a:pt x="22073743" y="0"/>
                  </a:lnTo>
                  <a:close/>
                </a:path>
              </a:pathLst>
            </a:custGeom>
            <a:solidFill>
              <a:srgbClr val="6C27D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865634" y="6886946"/>
            <a:ext cx="12488228" cy="35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OUTPUT: structured JSON - retrieval_events, sub_queries, answer (version), citations, uncertainty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427" y="7680427"/>
            <a:ext cx="8092440" cy="1783080"/>
            <a:chOff x="0" y="0"/>
            <a:chExt cx="10789920" cy="2377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89666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789666">
                  <a:moveTo>
                    <a:pt x="10646664" y="0"/>
                  </a:moveTo>
                  <a:lnTo>
                    <a:pt x="142494" y="0"/>
                  </a:lnTo>
                  <a:lnTo>
                    <a:pt x="123698" y="1270"/>
                  </a:lnTo>
                  <a:lnTo>
                    <a:pt x="41783" y="41783"/>
                  </a:lnTo>
                  <a:lnTo>
                    <a:pt x="1270" y="123825"/>
                  </a:lnTo>
                  <a:lnTo>
                    <a:pt x="0" y="142494"/>
                  </a:lnTo>
                  <a:lnTo>
                    <a:pt x="0" y="2234819"/>
                  </a:lnTo>
                  <a:lnTo>
                    <a:pt x="1143" y="2252853"/>
                  </a:lnTo>
                  <a:lnTo>
                    <a:pt x="1143" y="2253615"/>
                  </a:lnTo>
                  <a:lnTo>
                    <a:pt x="4572" y="2271141"/>
                  </a:lnTo>
                  <a:lnTo>
                    <a:pt x="4699" y="2271903"/>
                  </a:lnTo>
                  <a:lnTo>
                    <a:pt x="10287" y="2288794"/>
                  </a:lnTo>
                  <a:lnTo>
                    <a:pt x="71120" y="2358009"/>
                  </a:lnTo>
                  <a:lnTo>
                    <a:pt x="142367" y="2377440"/>
                  </a:lnTo>
                  <a:lnTo>
                    <a:pt x="10647173" y="2376678"/>
                  </a:lnTo>
                  <a:lnTo>
                    <a:pt x="10733913" y="2347341"/>
                  </a:lnTo>
                  <a:lnTo>
                    <a:pt x="10784587" y="2271903"/>
                  </a:lnTo>
                  <a:lnTo>
                    <a:pt x="10784840" y="2271141"/>
                  </a:lnTo>
                  <a:lnTo>
                    <a:pt x="10788397" y="2253615"/>
                  </a:lnTo>
                  <a:lnTo>
                    <a:pt x="10788524" y="2252853"/>
                  </a:lnTo>
                  <a:lnTo>
                    <a:pt x="10789666" y="2234819"/>
                  </a:lnTo>
                  <a:lnTo>
                    <a:pt x="10789666" y="2234057"/>
                  </a:lnTo>
                  <a:lnTo>
                    <a:pt x="10788904" y="142494"/>
                  </a:lnTo>
                  <a:lnTo>
                    <a:pt x="10759567" y="55753"/>
                  </a:lnTo>
                  <a:lnTo>
                    <a:pt x="10683367" y="4826"/>
                  </a:lnTo>
                  <a:lnTo>
                    <a:pt x="10665333" y="1270"/>
                  </a:lnTo>
                  <a:lnTo>
                    <a:pt x="10646664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8849" y="7755455"/>
            <a:ext cx="737806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Session state (one session only)</a:t>
            </a:r>
          </a:p>
          <a:p>
            <a:pPr algn="ctr">
              <a:lnSpc>
                <a:spcPts val="2879"/>
              </a:lnSpc>
            </a:pPr>
          </a:p>
          <a:p>
            <a:pPr algn="ctr">
              <a:lnSpc>
                <a:spcPts val="2519"/>
              </a:lnSpc>
            </a:pPr>
            <a:r>
              <a:rPr lang="en-US" sz="20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Current answer version, evidence set and sub-queries. No cross-session profiles.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26347" y="7680427"/>
            <a:ext cx="8092440" cy="1783080"/>
            <a:chOff x="0" y="0"/>
            <a:chExt cx="10789920" cy="2377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89666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789666">
                  <a:moveTo>
                    <a:pt x="10646664" y="0"/>
                  </a:moveTo>
                  <a:lnTo>
                    <a:pt x="142494" y="0"/>
                  </a:lnTo>
                  <a:lnTo>
                    <a:pt x="123698" y="1270"/>
                  </a:lnTo>
                  <a:lnTo>
                    <a:pt x="41783" y="41783"/>
                  </a:lnTo>
                  <a:lnTo>
                    <a:pt x="1270" y="123825"/>
                  </a:lnTo>
                  <a:lnTo>
                    <a:pt x="0" y="142494"/>
                  </a:lnTo>
                  <a:lnTo>
                    <a:pt x="0" y="2234819"/>
                  </a:lnTo>
                  <a:lnTo>
                    <a:pt x="1143" y="2252853"/>
                  </a:lnTo>
                  <a:lnTo>
                    <a:pt x="1143" y="2253615"/>
                  </a:lnTo>
                  <a:lnTo>
                    <a:pt x="4572" y="2271141"/>
                  </a:lnTo>
                  <a:lnTo>
                    <a:pt x="4699" y="2271903"/>
                  </a:lnTo>
                  <a:lnTo>
                    <a:pt x="10287" y="2288794"/>
                  </a:lnTo>
                  <a:lnTo>
                    <a:pt x="71120" y="2358009"/>
                  </a:lnTo>
                  <a:lnTo>
                    <a:pt x="142367" y="2377440"/>
                  </a:lnTo>
                  <a:lnTo>
                    <a:pt x="10647173" y="2376678"/>
                  </a:lnTo>
                  <a:lnTo>
                    <a:pt x="10733913" y="2347341"/>
                  </a:lnTo>
                  <a:lnTo>
                    <a:pt x="10784587" y="2271903"/>
                  </a:lnTo>
                  <a:lnTo>
                    <a:pt x="10784840" y="2271141"/>
                  </a:lnTo>
                  <a:lnTo>
                    <a:pt x="10788397" y="2253615"/>
                  </a:lnTo>
                  <a:lnTo>
                    <a:pt x="10788524" y="2252853"/>
                  </a:lnTo>
                  <a:lnTo>
                    <a:pt x="10789666" y="2234819"/>
                  </a:lnTo>
                  <a:lnTo>
                    <a:pt x="10789666" y="2234057"/>
                  </a:lnTo>
                  <a:lnTo>
                    <a:pt x="10788904" y="142494"/>
                  </a:lnTo>
                  <a:lnTo>
                    <a:pt x="10759567" y="55753"/>
                  </a:lnTo>
                  <a:lnTo>
                    <a:pt x="10683367" y="4826"/>
                  </a:lnTo>
                  <a:lnTo>
                    <a:pt x="10665333" y="1270"/>
                  </a:lnTo>
                  <a:lnTo>
                    <a:pt x="10646664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732588" y="7808062"/>
            <a:ext cx="7279957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2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Telemetry (every stage)</a:t>
            </a:r>
          </a:p>
          <a:p>
            <a:pPr algn="ctr">
              <a:lnSpc>
                <a:spcPts val="2759"/>
              </a:lnSpc>
            </a:pPr>
          </a:p>
          <a:p>
            <a:pPr algn="ctr">
              <a:lnSpc>
                <a:spcPts val="2399"/>
              </a:lnSpc>
            </a:pPr>
            <a:r>
              <a:rPr lang="en-US" sz="19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Timestamps, decisions, when retrieval fired, queries, citations, versions, tokens, cost.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1375239" y="540439"/>
            <a:ext cx="7183755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 &amp; Product Walkthrough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2960" y="1851127"/>
            <a:ext cx="5417820" cy="5349240"/>
          </a:xfrm>
          <a:custGeom>
            <a:avLst/>
            <a:gdLst/>
            <a:ahLst/>
            <a:cxnLst/>
            <a:rect r="r" b="b" t="t" l="l"/>
            <a:pathLst>
              <a:path h="5349240" w="5417820">
                <a:moveTo>
                  <a:pt x="0" y="0"/>
                </a:moveTo>
                <a:lnTo>
                  <a:pt x="5417820" y="0"/>
                </a:lnTo>
                <a:lnTo>
                  <a:pt x="5417820" y="5349240"/>
                </a:lnTo>
                <a:lnTo>
                  <a:pt x="0" y="53492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2038" y="2001764"/>
            <a:ext cx="4880610" cy="496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Scenario 1: Multi-intent + early retrieval</a:t>
            </a:r>
          </a:p>
          <a:p>
            <a:pPr algn="l">
              <a:lnSpc>
                <a:spcPts val="3119"/>
              </a:lnSpc>
            </a:pPr>
          </a:p>
          <a:p>
            <a:pPr algn="l" marL="440581" indent="-220290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Input: 'Plan a customer workshop in Pune for 30 people, need the cancellation policy and catering options.'</a:t>
            </a:r>
          </a:p>
          <a:p>
            <a:pPr algn="l" marL="440581" indent="-220290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RETRIEVE fires at 4.29s; utterance ends</a:t>
            </a:r>
          </a:p>
          <a:p>
            <a:pPr algn="l" marL="440581" indent="-220290" lvl="1">
              <a:lnSpc>
                <a:spcPts val="2759"/>
              </a:lnSpc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8.16s: retrieval 3.87s early</a:t>
            </a:r>
          </a:p>
          <a:p>
            <a:pPr algn="l" marL="440581" indent="-220290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Sub-queries: venue capacity | cancellation policy | catering</a:t>
            </a:r>
          </a:p>
          <a:p>
            <a:pPr algn="l" marL="440581" indent="-220290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Answer cites Doc_08 §2, Doc_13 §1 and more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05486" y="1851127"/>
            <a:ext cx="5417820" cy="5349240"/>
          </a:xfrm>
          <a:custGeom>
            <a:avLst/>
            <a:gdLst/>
            <a:ahLst/>
            <a:cxnLst/>
            <a:rect r="r" b="b" t="t" l="l"/>
            <a:pathLst>
              <a:path h="5349240" w="5417820">
                <a:moveTo>
                  <a:pt x="0" y="0"/>
                </a:moveTo>
                <a:lnTo>
                  <a:pt x="5417820" y="0"/>
                </a:lnTo>
                <a:lnTo>
                  <a:pt x="5417820" y="5349240"/>
                </a:lnTo>
                <a:lnTo>
                  <a:pt x="0" y="5349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44545" y="1979266"/>
            <a:ext cx="4910138" cy="461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Scenario 2: Late detail refines v1 to v2</a:t>
            </a:r>
          </a:p>
          <a:p>
            <a:pPr algn="l">
              <a:lnSpc>
                <a:spcPts val="3359"/>
              </a:lnSpc>
            </a:pPr>
          </a:p>
          <a:p>
            <a:pPr algn="l" marL="478891" indent="-239446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Turn 1: travel reimbursement rule, answered as v1 with citations</a:t>
            </a:r>
          </a:p>
          <a:p>
            <a:pPr algn="l" marL="478891" indent="-239446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Turn 2: 'The trip was international, booked after travel'</a:t>
            </a:r>
          </a:p>
          <a:p>
            <a:pPr algn="l" marL="478891" indent="-239446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Only the new part is searched</a:t>
            </a:r>
          </a:p>
          <a:p>
            <a:pPr algn="l" marL="478891" indent="-239446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Lineage: 3 facts kept, 3 added, 0 dropped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987994" y="1851127"/>
            <a:ext cx="5417820" cy="5349240"/>
          </a:xfrm>
          <a:custGeom>
            <a:avLst/>
            <a:gdLst/>
            <a:ahLst/>
            <a:cxnLst/>
            <a:rect r="r" b="b" t="t" l="l"/>
            <a:pathLst>
              <a:path h="5349240" w="5417820">
                <a:moveTo>
                  <a:pt x="0" y="0"/>
                </a:moveTo>
                <a:lnTo>
                  <a:pt x="5417820" y="0"/>
                </a:lnTo>
                <a:lnTo>
                  <a:pt x="5417820" y="5349240"/>
                </a:lnTo>
                <a:lnTo>
                  <a:pt x="0" y="5349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227071" y="1979266"/>
            <a:ext cx="4815840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Scenario 3: Suppress and honesty</a:t>
            </a:r>
          </a:p>
          <a:p>
            <a:pPr algn="l">
              <a:lnSpc>
                <a:spcPts val="3119"/>
              </a:lnSpc>
            </a:pPr>
          </a:p>
          <a:p>
            <a:pPr algn="l" marL="440581" indent="-220290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'Repeat that in two bullets' gives retrieval calls</a:t>
            </a:r>
          </a:p>
          <a:p>
            <a:pPr algn="l" marL="440581" indent="-220290" lvl="1">
              <a:lnSpc>
                <a:spcPts val="2759"/>
              </a:lnSpc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= 0 (reformat only)</a:t>
            </a:r>
          </a:p>
          <a:p>
            <a:pPr algn="l" marL="440581" indent="-220290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Question not in corpus (parking): 'I could not verify this from the provided documents.'</a:t>
            </a:r>
          </a:p>
          <a:p>
            <a:pPr algn="l" marL="440581" indent="-220290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uncertainty field explains what is missing</a:t>
            </a:r>
          </a:p>
          <a:p>
            <a:pPr algn="l" marL="440581" indent="-220290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No fabricated citation ever shown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1874" y="7406107"/>
            <a:ext cx="16597312" cy="755332"/>
            <a:chOff x="0" y="0"/>
            <a:chExt cx="22129750" cy="10071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29243" cy="1006475"/>
            </a:xfrm>
            <a:custGeom>
              <a:avLst/>
              <a:gdLst/>
              <a:ahLst/>
              <a:cxnLst/>
              <a:rect r="r" b="b" t="t" l="l"/>
              <a:pathLst>
                <a:path h="1006475" w="22129243">
                  <a:moveTo>
                    <a:pt x="50419" y="0"/>
                  </a:moveTo>
                  <a:lnTo>
                    <a:pt x="0" y="956818"/>
                  </a:lnTo>
                  <a:lnTo>
                    <a:pt x="2921" y="966851"/>
                  </a:lnTo>
                  <a:lnTo>
                    <a:pt x="49657" y="1006475"/>
                  </a:lnTo>
                  <a:lnTo>
                    <a:pt x="22079586" y="1006475"/>
                  </a:lnTo>
                  <a:lnTo>
                    <a:pt x="22129243" y="956818"/>
                  </a:lnTo>
                  <a:lnTo>
                    <a:pt x="22128989" y="49657"/>
                  </a:lnTo>
                  <a:lnTo>
                    <a:pt x="50419" y="0"/>
                  </a:lnTo>
                  <a:close/>
                </a:path>
              </a:pathLst>
            </a:custGeom>
            <a:solidFill>
              <a:srgbClr val="13132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427" y="8599589"/>
            <a:ext cx="16596360" cy="932498"/>
            <a:chOff x="0" y="0"/>
            <a:chExt cx="22128480" cy="12433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-127"/>
              <a:ext cx="22128353" cy="1243361"/>
            </a:xfrm>
            <a:custGeom>
              <a:avLst/>
              <a:gdLst/>
              <a:ahLst/>
              <a:cxnLst/>
              <a:rect r="r" b="b" t="t" l="l"/>
              <a:pathLst>
                <a:path h="1243361" w="22128353">
                  <a:moveTo>
                    <a:pt x="22029165" y="127"/>
                  </a:moveTo>
                  <a:lnTo>
                    <a:pt x="81407" y="127"/>
                  </a:lnTo>
                  <a:lnTo>
                    <a:pt x="64008" y="3389"/>
                  </a:lnTo>
                  <a:lnTo>
                    <a:pt x="7239" y="45984"/>
                  </a:lnTo>
                  <a:lnTo>
                    <a:pt x="0" y="74669"/>
                  </a:lnTo>
                  <a:lnTo>
                    <a:pt x="0" y="1181962"/>
                  </a:lnTo>
                  <a:lnTo>
                    <a:pt x="48895" y="1233576"/>
                  </a:lnTo>
                  <a:lnTo>
                    <a:pt x="85979" y="1242785"/>
                  </a:lnTo>
                  <a:lnTo>
                    <a:pt x="86741" y="1242785"/>
                  </a:lnTo>
                  <a:lnTo>
                    <a:pt x="98552" y="1243361"/>
                  </a:lnTo>
                  <a:lnTo>
                    <a:pt x="22047073" y="1242785"/>
                  </a:lnTo>
                  <a:lnTo>
                    <a:pt x="22115399" y="1205850"/>
                  </a:lnTo>
                  <a:lnTo>
                    <a:pt x="22128353" y="1168339"/>
                  </a:lnTo>
                  <a:lnTo>
                    <a:pt x="22127590" y="74573"/>
                  </a:lnTo>
                  <a:lnTo>
                    <a:pt x="22127590" y="61526"/>
                  </a:lnTo>
                  <a:lnTo>
                    <a:pt x="22078696" y="9817"/>
                  </a:lnTo>
                  <a:lnTo>
                    <a:pt x="22041993" y="607"/>
                  </a:lnTo>
                  <a:lnTo>
                    <a:pt x="22029038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89133" y="7447474"/>
            <a:ext cx="1553051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Run it: docker compose up --build	|	demo: docker compose exec streaming-rag python -m app.demo --fast --script eval/demo_script.txt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b="true" sz="2100" spc="-15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Also available</a:t>
            </a:r>
          </a:p>
          <a:p>
            <a:pPr algn="ctr">
              <a:lnSpc>
                <a:spcPts val="2160"/>
              </a:lnSpc>
            </a:pPr>
            <a:r>
              <a:rPr lang="en-US" sz="1800" spc="-12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Swagger UI at localhost:8000/docs, REST + WebSocket streaming, /health reports retrieval_mode = hybrid, JSONL logs per session.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1375239" y="540439"/>
            <a:ext cx="10566082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Tools and tech stack used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2960" y="1851660"/>
            <a:ext cx="4046220" cy="2674620"/>
          </a:xfrm>
          <a:custGeom>
            <a:avLst/>
            <a:gdLst/>
            <a:ahLst/>
            <a:cxnLst/>
            <a:rect r="r" b="b" t="t" l="l"/>
            <a:pathLst>
              <a:path h="2674620" w="4046220">
                <a:moveTo>
                  <a:pt x="0" y="0"/>
                </a:moveTo>
                <a:lnTo>
                  <a:pt x="4046220" y="0"/>
                </a:lnTo>
                <a:lnTo>
                  <a:pt x="4046220" y="2674620"/>
                </a:lnTo>
                <a:lnTo>
                  <a:pt x="0" y="2674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5556" y="2493645"/>
            <a:ext cx="280892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Language / API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Python 3.11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FastAPI + Uvicorn</a:t>
            </a:r>
          </a:p>
          <a:p>
            <a:pPr algn="l">
              <a:lnSpc>
                <a:spcPts val="2639"/>
              </a:lnSpc>
            </a:pPr>
            <a:r>
              <a:rPr lang="en-US" sz="219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REST + WebSocket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006340" y="1851660"/>
            <a:ext cx="4046220" cy="2674620"/>
          </a:xfrm>
          <a:custGeom>
            <a:avLst/>
            <a:gdLst/>
            <a:ahLst/>
            <a:cxnLst/>
            <a:rect r="r" b="b" t="t" l="l"/>
            <a:pathLst>
              <a:path h="2674620" w="4046220">
                <a:moveTo>
                  <a:pt x="0" y="0"/>
                </a:moveTo>
                <a:lnTo>
                  <a:pt x="4046220" y="0"/>
                </a:lnTo>
                <a:lnTo>
                  <a:pt x="4046220" y="2674620"/>
                </a:lnTo>
                <a:lnTo>
                  <a:pt x="0" y="2674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60206" y="2493645"/>
            <a:ext cx="3138487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spc="-17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Sparse retrieval</a:t>
            </a:r>
          </a:p>
          <a:p>
            <a:pPr algn="l">
              <a:lnSpc>
                <a:spcPts val="2519"/>
              </a:lnSpc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rank_bm25 (BM25Okapi)</a:t>
            </a:r>
          </a:p>
          <a:p>
            <a:pPr algn="l">
              <a:lnSpc>
                <a:spcPts val="2519"/>
              </a:lnSpc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Keyword-exact matching</a:t>
            </a:r>
          </a:p>
          <a:p>
            <a:pPr algn="l">
              <a:lnSpc>
                <a:spcPts val="2519"/>
              </a:lnSpc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Works fully offline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89720" y="1851660"/>
            <a:ext cx="4046220" cy="2674620"/>
            <a:chOff x="0" y="0"/>
            <a:chExt cx="5394960" cy="3566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94706" cy="3566160"/>
            </a:xfrm>
            <a:custGeom>
              <a:avLst/>
              <a:gdLst/>
              <a:ahLst/>
              <a:cxnLst/>
              <a:rect r="r" b="b" t="t" l="l"/>
              <a:pathLst>
                <a:path h="3566160" w="5394706">
                  <a:moveTo>
                    <a:pt x="5180457" y="0"/>
                  </a:moveTo>
                  <a:lnTo>
                    <a:pt x="213868" y="0"/>
                  </a:lnTo>
                  <a:lnTo>
                    <a:pt x="185928" y="1905"/>
                  </a:lnTo>
                  <a:lnTo>
                    <a:pt x="107315" y="28829"/>
                  </a:lnTo>
                  <a:lnTo>
                    <a:pt x="44323" y="83312"/>
                  </a:lnTo>
                  <a:lnTo>
                    <a:pt x="7366" y="158623"/>
                  </a:lnTo>
                  <a:lnTo>
                    <a:pt x="0" y="213868"/>
                  </a:lnTo>
                  <a:lnTo>
                    <a:pt x="0" y="3352292"/>
                  </a:lnTo>
                  <a:lnTo>
                    <a:pt x="1778" y="3379470"/>
                  </a:lnTo>
                  <a:lnTo>
                    <a:pt x="1778" y="3380232"/>
                  </a:lnTo>
                  <a:lnTo>
                    <a:pt x="7112" y="3406902"/>
                  </a:lnTo>
                  <a:lnTo>
                    <a:pt x="7239" y="3407537"/>
                  </a:lnTo>
                  <a:lnTo>
                    <a:pt x="16129" y="3433445"/>
                  </a:lnTo>
                  <a:lnTo>
                    <a:pt x="62484" y="3503549"/>
                  </a:lnTo>
                  <a:lnTo>
                    <a:pt x="131953" y="3549777"/>
                  </a:lnTo>
                  <a:lnTo>
                    <a:pt x="213741" y="3566160"/>
                  </a:lnTo>
                  <a:lnTo>
                    <a:pt x="5180965" y="3565398"/>
                  </a:lnTo>
                  <a:lnTo>
                    <a:pt x="5262499" y="3549015"/>
                  </a:lnTo>
                  <a:lnTo>
                    <a:pt x="5332222" y="3502914"/>
                  </a:lnTo>
                  <a:lnTo>
                    <a:pt x="5378196" y="3433826"/>
                  </a:lnTo>
                  <a:lnTo>
                    <a:pt x="5394706" y="3352292"/>
                  </a:lnTo>
                  <a:lnTo>
                    <a:pt x="5394706" y="3351530"/>
                  </a:lnTo>
                  <a:lnTo>
                    <a:pt x="5393944" y="213741"/>
                  </a:lnTo>
                  <a:lnTo>
                    <a:pt x="5377561" y="132207"/>
                  </a:lnTo>
                  <a:lnTo>
                    <a:pt x="5331460" y="62484"/>
                  </a:lnTo>
                  <a:lnTo>
                    <a:pt x="5261991" y="16256"/>
                  </a:lnTo>
                  <a:lnTo>
                    <a:pt x="5208270" y="1905"/>
                  </a:lnTo>
                  <a:lnTo>
                    <a:pt x="5180457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723552" y="2493645"/>
            <a:ext cx="2978557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spc="-17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Dense retrieval</a:t>
            </a:r>
          </a:p>
          <a:p>
            <a:pPr algn="l">
              <a:lnSpc>
                <a:spcPts val="2519"/>
              </a:lnSpc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bge-small-en-v1.5</a:t>
            </a:r>
          </a:p>
          <a:p>
            <a:pPr algn="l">
              <a:lnSpc>
                <a:spcPts val="2519"/>
              </a:lnSpc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sentence-transformers</a:t>
            </a:r>
          </a:p>
          <a:p>
            <a:pPr algn="l">
              <a:lnSpc>
                <a:spcPts val="2519"/>
              </a:lnSpc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FAISS index, CPU only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373100" y="1851660"/>
            <a:ext cx="4046220" cy="2674620"/>
            <a:chOff x="0" y="0"/>
            <a:chExt cx="5394960" cy="3566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94706" cy="3566160"/>
            </a:xfrm>
            <a:custGeom>
              <a:avLst/>
              <a:gdLst/>
              <a:ahLst/>
              <a:cxnLst/>
              <a:rect r="r" b="b" t="t" l="l"/>
              <a:pathLst>
                <a:path h="3566160" w="5394706">
                  <a:moveTo>
                    <a:pt x="5180457" y="0"/>
                  </a:moveTo>
                  <a:lnTo>
                    <a:pt x="213868" y="0"/>
                  </a:lnTo>
                  <a:lnTo>
                    <a:pt x="185928" y="1905"/>
                  </a:lnTo>
                  <a:lnTo>
                    <a:pt x="107315" y="28829"/>
                  </a:lnTo>
                  <a:lnTo>
                    <a:pt x="44323" y="83312"/>
                  </a:lnTo>
                  <a:lnTo>
                    <a:pt x="7366" y="158623"/>
                  </a:lnTo>
                  <a:lnTo>
                    <a:pt x="0" y="213868"/>
                  </a:lnTo>
                  <a:lnTo>
                    <a:pt x="0" y="3352292"/>
                  </a:lnTo>
                  <a:lnTo>
                    <a:pt x="1778" y="3379470"/>
                  </a:lnTo>
                  <a:lnTo>
                    <a:pt x="1778" y="3380232"/>
                  </a:lnTo>
                  <a:lnTo>
                    <a:pt x="7112" y="3406902"/>
                  </a:lnTo>
                  <a:lnTo>
                    <a:pt x="7239" y="3407537"/>
                  </a:lnTo>
                  <a:lnTo>
                    <a:pt x="16129" y="3433445"/>
                  </a:lnTo>
                  <a:lnTo>
                    <a:pt x="62484" y="3503549"/>
                  </a:lnTo>
                  <a:lnTo>
                    <a:pt x="131953" y="3549777"/>
                  </a:lnTo>
                  <a:lnTo>
                    <a:pt x="213741" y="3566160"/>
                  </a:lnTo>
                  <a:lnTo>
                    <a:pt x="5180965" y="3565398"/>
                  </a:lnTo>
                  <a:lnTo>
                    <a:pt x="5262499" y="3549015"/>
                  </a:lnTo>
                  <a:lnTo>
                    <a:pt x="5332222" y="3502914"/>
                  </a:lnTo>
                  <a:lnTo>
                    <a:pt x="5378196" y="3433826"/>
                  </a:lnTo>
                  <a:lnTo>
                    <a:pt x="5394706" y="3352292"/>
                  </a:lnTo>
                  <a:lnTo>
                    <a:pt x="5394706" y="3351530"/>
                  </a:lnTo>
                  <a:lnTo>
                    <a:pt x="5393944" y="213741"/>
                  </a:lnTo>
                  <a:lnTo>
                    <a:pt x="5377561" y="132207"/>
                  </a:lnTo>
                  <a:lnTo>
                    <a:pt x="5331460" y="62484"/>
                  </a:lnTo>
                  <a:lnTo>
                    <a:pt x="5261991" y="16256"/>
                  </a:lnTo>
                  <a:lnTo>
                    <a:pt x="5208270" y="1905"/>
                  </a:lnTo>
                  <a:lnTo>
                    <a:pt x="5180457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807341" y="2493645"/>
            <a:ext cx="3097553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spc="-17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Fusion + rerank</a:t>
            </a:r>
          </a:p>
          <a:p>
            <a:pPr algn="l">
              <a:lnSpc>
                <a:spcPts val="2519"/>
              </a:lnSpc>
            </a:pPr>
            <a:r>
              <a:rPr lang="en-US" sz="20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Reciprocal Rank Fusion</a:t>
            </a:r>
          </a:p>
          <a:p>
            <a:pPr algn="l">
              <a:lnSpc>
                <a:spcPts val="2519"/>
              </a:lnSpc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Rerank + de-duplication</a:t>
            </a:r>
          </a:p>
          <a:p>
            <a:pPr algn="l">
              <a:lnSpc>
                <a:spcPts val="2519"/>
              </a:lnSpc>
            </a:pPr>
            <a:r>
              <a:rPr lang="en-US" sz="2099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Configurable via env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22960" y="4663440"/>
            <a:ext cx="4046220" cy="2674620"/>
          </a:xfrm>
          <a:custGeom>
            <a:avLst/>
            <a:gdLst/>
            <a:ahLst/>
            <a:cxnLst/>
            <a:rect r="r" b="b" t="t" l="l"/>
            <a:pathLst>
              <a:path h="2674620" w="4046220">
                <a:moveTo>
                  <a:pt x="0" y="0"/>
                </a:moveTo>
                <a:lnTo>
                  <a:pt x="4046220" y="0"/>
                </a:lnTo>
                <a:lnTo>
                  <a:pt x="4046220" y="2674620"/>
                </a:lnTo>
                <a:lnTo>
                  <a:pt x="0" y="26746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31094" y="5012055"/>
            <a:ext cx="342995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LLM 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Any cheap API: Groq / Gemini</a:t>
            </a:r>
          </a:p>
          <a:p>
            <a:pPr algn="l" marL="383115" indent="-191557" lvl="1">
              <a:lnSpc>
                <a:spcPts val="2399"/>
              </a:lnSpc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Only decompose + write answer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Offline extractive fallback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006340" y="4663440"/>
            <a:ext cx="4046220" cy="2674620"/>
          </a:xfrm>
          <a:custGeom>
            <a:avLst/>
            <a:gdLst/>
            <a:ahLst/>
            <a:cxnLst/>
            <a:rect r="r" b="b" t="t" l="l"/>
            <a:pathLst>
              <a:path h="2674620" w="4046220">
                <a:moveTo>
                  <a:pt x="0" y="0"/>
                </a:moveTo>
                <a:lnTo>
                  <a:pt x="4046220" y="0"/>
                </a:lnTo>
                <a:lnTo>
                  <a:pt x="4046220" y="2674620"/>
                </a:lnTo>
                <a:lnTo>
                  <a:pt x="0" y="2674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60206" y="5012055"/>
            <a:ext cx="31384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Packaging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Dockerfile + docker-compose</a:t>
            </a:r>
          </a:p>
          <a:p>
            <a:pPr algn="l" marL="383115" indent="-191557" lvl="1">
              <a:lnSpc>
                <a:spcPts val="2399"/>
              </a:lnSpc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Pinned requirements.txt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One command run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189720" y="4663440"/>
            <a:ext cx="4046220" cy="2674620"/>
          </a:xfrm>
          <a:custGeom>
            <a:avLst/>
            <a:gdLst/>
            <a:ahLst/>
            <a:cxnLst/>
            <a:rect r="r" b="b" t="t" l="l"/>
            <a:pathLst>
              <a:path h="2674620" w="4046220">
                <a:moveTo>
                  <a:pt x="0" y="0"/>
                </a:moveTo>
                <a:lnTo>
                  <a:pt x="4046220" y="0"/>
                </a:lnTo>
                <a:lnTo>
                  <a:pt x="4046220" y="2674620"/>
                </a:lnTo>
                <a:lnTo>
                  <a:pt x="0" y="2674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723552" y="5124450"/>
            <a:ext cx="308300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Evaluation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22-session test set</a:t>
            </a:r>
          </a:p>
          <a:p>
            <a:pPr algn="l" marL="383115" indent="-191557" lvl="1">
              <a:lnSpc>
                <a:spcPts val="2399"/>
              </a:lnSpc>
            </a:pPr>
            <a:r>
              <a:rPr lang="en-US" sz="19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Baseline + 3 ablations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Auto report.md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373100" y="4663440"/>
            <a:ext cx="4046220" cy="2674620"/>
          </a:xfrm>
          <a:custGeom>
            <a:avLst/>
            <a:gdLst/>
            <a:ahLst/>
            <a:cxnLst/>
            <a:rect r="r" b="b" t="t" l="l"/>
            <a:pathLst>
              <a:path h="2674620" w="4046220">
                <a:moveTo>
                  <a:pt x="0" y="0"/>
                </a:moveTo>
                <a:lnTo>
                  <a:pt x="4046220" y="0"/>
                </a:lnTo>
                <a:lnTo>
                  <a:pt x="4046220" y="2674620"/>
                </a:lnTo>
                <a:lnTo>
                  <a:pt x="0" y="26746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807341" y="5124450"/>
            <a:ext cx="3136384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2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Testing / logging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pytest (5 tests)</a:t>
            </a:r>
          </a:p>
          <a:p>
            <a:pPr algn="l" marL="383115" indent="-191557" lvl="1">
              <a:lnSpc>
                <a:spcPts val="2399"/>
              </a:lnSpc>
            </a:pPr>
            <a:r>
              <a:rPr lang="en-US" sz="19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- Fake-LLM citation test</a:t>
            </a:r>
          </a:p>
          <a:p>
            <a:pPr algn="l" marL="383115" indent="-191557" lvl="1">
              <a:lnSpc>
                <a:spcPts val="2399"/>
              </a:lnSpc>
              <a:buFont typeface="Arial"/>
              <a:buChar char="•"/>
            </a:pPr>
            <a:r>
              <a:rPr lang="en-US" sz="1999" spc="-16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JSONL telemetry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427" y="7543267"/>
            <a:ext cx="16596360" cy="1920240"/>
            <a:chOff x="0" y="0"/>
            <a:chExt cx="22128480" cy="2560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-254"/>
              <a:ext cx="22128480" cy="2560447"/>
            </a:xfrm>
            <a:custGeom>
              <a:avLst/>
              <a:gdLst/>
              <a:ahLst/>
              <a:cxnLst/>
              <a:rect r="r" b="b" t="t" l="l"/>
              <a:pathLst>
                <a:path h="2560447" w="22128480">
                  <a:moveTo>
                    <a:pt x="21974429" y="254"/>
                  </a:moveTo>
                  <a:lnTo>
                    <a:pt x="153289" y="254"/>
                  </a:lnTo>
                  <a:lnTo>
                    <a:pt x="131572" y="1651"/>
                  </a:lnTo>
                  <a:lnTo>
                    <a:pt x="132842" y="1651"/>
                  </a:lnTo>
                  <a:lnTo>
                    <a:pt x="113792" y="5207"/>
                  </a:lnTo>
                  <a:lnTo>
                    <a:pt x="44704" y="45212"/>
                  </a:lnTo>
                  <a:lnTo>
                    <a:pt x="5334" y="114046"/>
                  </a:lnTo>
                  <a:lnTo>
                    <a:pt x="0" y="153543"/>
                  </a:lnTo>
                  <a:lnTo>
                    <a:pt x="0" y="2407158"/>
                  </a:lnTo>
                  <a:lnTo>
                    <a:pt x="20193" y="2483485"/>
                  </a:lnTo>
                  <a:lnTo>
                    <a:pt x="76327" y="2539619"/>
                  </a:lnTo>
                  <a:lnTo>
                    <a:pt x="153416" y="2560447"/>
                  </a:lnTo>
                  <a:lnTo>
                    <a:pt x="21975190" y="2559685"/>
                  </a:lnTo>
                  <a:lnTo>
                    <a:pt x="22051518" y="2539492"/>
                  </a:lnTo>
                  <a:lnTo>
                    <a:pt x="22107652" y="2483358"/>
                  </a:lnTo>
                  <a:lnTo>
                    <a:pt x="22123019" y="2446528"/>
                  </a:lnTo>
                  <a:lnTo>
                    <a:pt x="22123273" y="2445893"/>
                  </a:lnTo>
                  <a:lnTo>
                    <a:pt x="22127083" y="2426970"/>
                  </a:lnTo>
                  <a:lnTo>
                    <a:pt x="22127211" y="2426208"/>
                  </a:lnTo>
                  <a:lnTo>
                    <a:pt x="22128480" y="2407031"/>
                  </a:lnTo>
                  <a:lnTo>
                    <a:pt x="22127845" y="153416"/>
                  </a:lnTo>
                  <a:lnTo>
                    <a:pt x="22107652" y="77089"/>
                  </a:lnTo>
                  <a:lnTo>
                    <a:pt x="22051518" y="20955"/>
                  </a:lnTo>
                  <a:lnTo>
                    <a:pt x="21994368" y="1397"/>
                  </a:lnTo>
                  <a:lnTo>
                    <a:pt x="21974429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01001" y="7620429"/>
            <a:ext cx="1590389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spc="-14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Design principles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19"/>
              </a:lnSpc>
            </a:pPr>
            <a:r>
              <a:rPr lang="en-US" sz="20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Corpus-agnostic: indexes whatever PDF, TXT or MD files sit in data/corpus/, no hardcoded answers or prompts. Cheap: rule-based controller, one LLM call at most per turn. Safe: citations validated against real chunk IDs, hallucinated ones stripped and logged.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1375239" y="540439"/>
            <a:ext cx="10566082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 &amp; Use case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2427" y="1850574"/>
            <a:ext cx="4047172" cy="3155633"/>
          </a:xfrm>
          <a:custGeom>
            <a:avLst/>
            <a:gdLst/>
            <a:ahLst/>
            <a:cxnLst/>
            <a:rect r="r" b="b" t="t" l="l"/>
            <a:pathLst>
              <a:path h="3155633" w="4047172">
                <a:moveTo>
                  <a:pt x="0" y="0"/>
                </a:moveTo>
                <a:lnTo>
                  <a:pt x="4047172" y="0"/>
                </a:lnTo>
                <a:lnTo>
                  <a:pt x="4047172" y="3155633"/>
                </a:lnTo>
                <a:lnTo>
                  <a:pt x="0" y="31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6747" y="2130869"/>
            <a:ext cx="3575685" cy="252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19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Enterprise helpdesk</a:t>
            </a:r>
          </a:p>
          <a:p>
            <a:pPr algn="l">
              <a:lnSpc>
                <a:spcPts val="2873"/>
              </a:lnSpc>
            </a:pPr>
          </a:p>
          <a:p>
            <a:pPr algn="l">
              <a:lnSpc>
                <a:spcPts val="2874"/>
              </a:lnSpc>
            </a:pPr>
            <a:r>
              <a:rPr lang="en-US" sz="219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1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Employees ask policy questions by voice: travel, leave, events.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Answers arrive as they finish speaking.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005807" y="1850574"/>
            <a:ext cx="4047172" cy="3155633"/>
            <a:chOff x="0" y="0"/>
            <a:chExt cx="5396230" cy="42075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95849" cy="4206875"/>
            </a:xfrm>
            <a:custGeom>
              <a:avLst/>
              <a:gdLst/>
              <a:ahLst/>
              <a:cxnLst/>
              <a:rect r="r" b="b" t="t" l="l"/>
              <a:pathLst>
                <a:path h="4206875" w="5395849">
                  <a:moveTo>
                    <a:pt x="253492" y="0"/>
                  </a:moveTo>
                  <a:lnTo>
                    <a:pt x="156591" y="19431"/>
                  </a:lnTo>
                  <a:lnTo>
                    <a:pt x="74676" y="74041"/>
                  </a:lnTo>
                  <a:lnTo>
                    <a:pt x="19812" y="156210"/>
                  </a:lnTo>
                  <a:lnTo>
                    <a:pt x="762" y="252730"/>
                  </a:lnTo>
                  <a:lnTo>
                    <a:pt x="0" y="3954272"/>
                  </a:lnTo>
                  <a:lnTo>
                    <a:pt x="2286" y="3987419"/>
                  </a:lnTo>
                  <a:lnTo>
                    <a:pt x="33909" y="4081018"/>
                  </a:lnTo>
                  <a:lnTo>
                    <a:pt x="99060" y="4154678"/>
                  </a:lnTo>
                  <a:lnTo>
                    <a:pt x="187452" y="4198366"/>
                  </a:lnTo>
                  <a:lnTo>
                    <a:pt x="252857" y="4206875"/>
                  </a:lnTo>
                  <a:lnTo>
                    <a:pt x="5142992" y="4206875"/>
                  </a:lnTo>
                  <a:lnTo>
                    <a:pt x="5174742" y="4204716"/>
                  </a:lnTo>
                  <a:lnTo>
                    <a:pt x="5175758" y="4204716"/>
                  </a:lnTo>
                  <a:lnTo>
                    <a:pt x="5269738" y="4172966"/>
                  </a:lnTo>
                  <a:lnTo>
                    <a:pt x="5343525" y="4107815"/>
                  </a:lnTo>
                  <a:lnTo>
                    <a:pt x="5376545" y="4050792"/>
                  </a:lnTo>
                  <a:lnTo>
                    <a:pt x="5376672" y="4050538"/>
                  </a:lnTo>
                  <a:lnTo>
                    <a:pt x="5387213" y="4019550"/>
                  </a:lnTo>
                  <a:lnTo>
                    <a:pt x="5393690" y="3987165"/>
                  </a:lnTo>
                  <a:lnTo>
                    <a:pt x="5395849" y="3954018"/>
                  </a:lnTo>
                  <a:lnTo>
                    <a:pt x="5395849" y="252476"/>
                  </a:lnTo>
                  <a:lnTo>
                    <a:pt x="5376418" y="156337"/>
                  </a:lnTo>
                  <a:lnTo>
                    <a:pt x="5321808" y="74422"/>
                  </a:lnTo>
                  <a:lnTo>
                    <a:pt x="5239639" y="19558"/>
                  </a:lnTo>
                  <a:lnTo>
                    <a:pt x="5143119" y="381"/>
                  </a:lnTo>
                  <a:lnTo>
                    <a:pt x="253492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280127" y="2188019"/>
            <a:ext cx="3498533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Contact centres</a:t>
            </a:r>
          </a:p>
          <a:p>
            <a:pPr algn="l">
              <a:lnSpc>
                <a:spcPts val="287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20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Agent assist retrieves policy while the customer is still talking, cutting handle time.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89187" y="1850574"/>
            <a:ext cx="4047172" cy="3155633"/>
            <a:chOff x="0" y="0"/>
            <a:chExt cx="5396230" cy="4207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95849" cy="4206875"/>
            </a:xfrm>
            <a:custGeom>
              <a:avLst/>
              <a:gdLst/>
              <a:ahLst/>
              <a:cxnLst/>
              <a:rect r="r" b="b" t="t" l="l"/>
              <a:pathLst>
                <a:path h="4206875" w="5395849">
                  <a:moveTo>
                    <a:pt x="253492" y="0"/>
                  </a:moveTo>
                  <a:lnTo>
                    <a:pt x="156591" y="19431"/>
                  </a:lnTo>
                  <a:lnTo>
                    <a:pt x="74676" y="74041"/>
                  </a:lnTo>
                  <a:lnTo>
                    <a:pt x="19812" y="156210"/>
                  </a:lnTo>
                  <a:lnTo>
                    <a:pt x="762" y="252730"/>
                  </a:lnTo>
                  <a:lnTo>
                    <a:pt x="0" y="3954272"/>
                  </a:lnTo>
                  <a:lnTo>
                    <a:pt x="2286" y="3987419"/>
                  </a:lnTo>
                  <a:lnTo>
                    <a:pt x="33909" y="4081018"/>
                  </a:lnTo>
                  <a:lnTo>
                    <a:pt x="99060" y="4154678"/>
                  </a:lnTo>
                  <a:lnTo>
                    <a:pt x="187452" y="4198366"/>
                  </a:lnTo>
                  <a:lnTo>
                    <a:pt x="252857" y="4206875"/>
                  </a:lnTo>
                  <a:lnTo>
                    <a:pt x="5142992" y="4206875"/>
                  </a:lnTo>
                  <a:lnTo>
                    <a:pt x="5174742" y="4204716"/>
                  </a:lnTo>
                  <a:lnTo>
                    <a:pt x="5175758" y="4204716"/>
                  </a:lnTo>
                  <a:lnTo>
                    <a:pt x="5269738" y="4172966"/>
                  </a:lnTo>
                  <a:lnTo>
                    <a:pt x="5343525" y="4107815"/>
                  </a:lnTo>
                  <a:lnTo>
                    <a:pt x="5376545" y="4050792"/>
                  </a:lnTo>
                  <a:lnTo>
                    <a:pt x="5376672" y="4050538"/>
                  </a:lnTo>
                  <a:lnTo>
                    <a:pt x="5387213" y="4019550"/>
                  </a:lnTo>
                  <a:lnTo>
                    <a:pt x="5393690" y="3987165"/>
                  </a:lnTo>
                  <a:lnTo>
                    <a:pt x="5395849" y="3954018"/>
                  </a:lnTo>
                  <a:lnTo>
                    <a:pt x="5395849" y="252476"/>
                  </a:lnTo>
                  <a:lnTo>
                    <a:pt x="5376418" y="156337"/>
                  </a:lnTo>
                  <a:lnTo>
                    <a:pt x="5321808" y="74422"/>
                  </a:lnTo>
                  <a:lnTo>
                    <a:pt x="5239639" y="19558"/>
                  </a:lnTo>
                  <a:lnTo>
                    <a:pt x="5143119" y="381"/>
                  </a:lnTo>
                  <a:lnTo>
                    <a:pt x="253492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542259" y="2313108"/>
            <a:ext cx="3334703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Meeting copilots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519"/>
              </a:lnSpc>
            </a:pPr>
            <a:r>
              <a:rPr lang="en-US" sz="20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Live questions get cited answers from internal knowledge bases mid-discussion.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372567" y="1850574"/>
            <a:ext cx="4047172" cy="3155633"/>
            <a:chOff x="0" y="0"/>
            <a:chExt cx="5396230" cy="4207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5849" cy="4206875"/>
            </a:xfrm>
            <a:custGeom>
              <a:avLst/>
              <a:gdLst/>
              <a:ahLst/>
              <a:cxnLst/>
              <a:rect r="r" b="b" t="t" l="l"/>
              <a:pathLst>
                <a:path h="4206875" w="5395849">
                  <a:moveTo>
                    <a:pt x="253492" y="0"/>
                  </a:moveTo>
                  <a:lnTo>
                    <a:pt x="156591" y="19431"/>
                  </a:lnTo>
                  <a:lnTo>
                    <a:pt x="74676" y="74041"/>
                  </a:lnTo>
                  <a:lnTo>
                    <a:pt x="19812" y="156210"/>
                  </a:lnTo>
                  <a:lnTo>
                    <a:pt x="762" y="252730"/>
                  </a:lnTo>
                  <a:lnTo>
                    <a:pt x="0" y="3954272"/>
                  </a:lnTo>
                  <a:lnTo>
                    <a:pt x="2286" y="3987419"/>
                  </a:lnTo>
                  <a:lnTo>
                    <a:pt x="33909" y="4081018"/>
                  </a:lnTo>
                  <a:lnTo>
                    <a:pt x="99060" y="4154678"/>
                  </a:lnTo>
                  <a:lnTo>
                    <a:pt x="187452" y="4198366"/>
                  </a:lnTo>
                  <a:lnTo>
                    <a:pt x="252857" y="4206875"/>
                  </a:lnTo>
                  <a:lnTo>
                    <a:pt x="5142992" y="4206875"/>
                  </a:lnTo>
                  <a:lnTo>
                    <a:pt x="5174742" y="4204716"/>
                  </a:lnTo>
                  <a:lnTo>
                    <a:pt x="5175758" y="4204716"/>
                  </a:lnTo>
                  <a:lnTo>
                    <a:pt x="5269738" y="4172966"/>
                  </a:lnTo>
                  <a:lnTo>
                    <a:pt x="5343525" y="4107815"/>
                  </a:lnTo>
                  <a:lnTo>
                    <a:pt x="5376545" y="4050792"/>
                  </a:lnTo>
                  <a:lnTo>
                    <a:pt x="5376672" y="4050538"/>
                  </a:lnTo>
                  <a:lnTo>
                    <a:pt x="5387213" y="4019550"/>
                  </a:lnTo>
                  <a:lnTo>
                    <a:pt x="5393690" y="3987165"/>
                  </a:lnTo>
                  <a:lnTo>
                    <a:pt x="5395849" y="3954018"/>
                  </a:lnTo>
                  <a:lnTo>
                    <a:pt x="5395849" y="252476"/>
                  </a:lnTo>
                  <a:lnTo>
                    <a:pt x="5376418" y="156337"/>
                  </a:lnTo>
                  <a:lnTo>
                    <a:pt x="5321808" y="74422"/>
                  </a:lnTo>
                  <a:lnTo>
                    <a:pt x="5239639" y="19558"/>
                  </a:lnTo>
                  <a:lnTo>
                    <a:pt x="5143119" y="381"/>
                  </a:lnTo>
                  <a:lnTo>
                    <a:pt x="253492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722134" y="2368994"/>
            <a:ext cx="3119438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Voice assistants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519"/>
              </a:lnSpc>
            </a:pPr>
            <a:r>
              <a:rPr lang="en-US" sz="20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Multi-part spoken requests are handled in one turn with corrections merged.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427" y="5279574"/>
            <a:ext cx="4047172" cy="2058352"/>
            <a:chOff x="0" y="0"/>
            <a:chExt cx="5396230" cy="27444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95722" cy="2743962"/>
            </a:xfrm>
            <a:custGeom>
              <a:avLst/>
              <a:gdLst/>
              <a:ahLst/>
              <a:cxnLst/>
              <a:rect r="r" b="b" t="t" l="l"/>
              <a:pathLst>
                <a:path h="2743962" w="5395722">
                  <a:moveTo>
                    <a:pt x="165608" y="0"/>
                  </a:moveTo>
                  <a:lnTo>
                    <a:pt x="82804" y="22352"/>
                  </a:lnTo>
                  <a:lnTo>
                    <a:pt x="22987" y="82804"/>
                  </a:lnTo>
                  <a:lnTo>
                    <a:pt x="762" y="164846"/>
                  </a:lnTo>
                  <a:lnTo>
                    <a:pt x="0" y="2578989"/>
                  </a:lnTo>
                  <a:lnTo>
                    <a:pt x="1397" y="2600579"/>
                  </a:lnTo>
                  <a:lnTo>
                    <a:pt x="1397" y="2600960"/>
                  </a:lnTo>
                  <a:lnTo>
                    <a:pt x="5588" y="2621788"/>
                  </a:lnTo>
                  <a:lnTo>
                    <a:pt x="5715" y="2622169"/>
                  </a:lnTo>
                  <a:lnTo>
                    <a:pt x="12573" y="2642108"/>
                  </a:lnTo>
                  <a:lnTo>
                    <a:pt x="12700" y="2642489"/>
                  </a:lnTo>
                  <a:lnTo>
                    <a:pt x="22225" y="2661920"/>
                  </a:lnTo>
                  <a:lnTo>
                    <a:pt x="34036" y="2679319"/>
                  </a:lnTo>
                  <a:lnTo>
                    <a:pt x="34290" y="2679573"/>
                  </a:lnTo>
                  <a:lnTo>
                    <a:pt x="101854" y="2731262"/>
                  </a:lnTo>
                  <a:lnTo>
                    <a:pt x="164846" y="2743962"/>
                  </a:lnTo>
                  <a:lnTo>
                    <a:pt x="5230749" y="2743962"/>
                  </a:lnTo>
                  <a:lnTo>
                    <a:pt x="5313553" y="2721610"/>
                  </a:lnTo>
                  <a:lnTo>
                    <a:pt x="5373243" y="2661158"/>
                  </a:lnTo>
                  <a:lnTo>
                    <a:pt x="5394071" y="2600960"/>
                  </a:lnTo>
                  <a:lnTo>
                    <a:pt x="5394198" y="2600579"/>
                  </a:lnTo>
                  <a:lnTo>
                    <a:pt x="5395722" y="2578989"/>
                  </a:lnTo>
                  <a:lnTo>
                    <a:pt x="5395722" y="164846"/>
                  </a:lnTo>
                  <a:lnTo>
                    <a:pt x="5394325" y="143764"/>
                  </a:lnTo>
                  <a:lnTo>
                    <a:pt x="5361432" y="65151"/>
                  </a:lnTo>
                  <a:lnTo>
                    <a:pt x="5293868" y="13462"/>
                  </a:lnTo>
                  <a:lnTo>
                    <a:pt x="5230876" y="762"/>
                  </a:lnTo>
                  <a:lnTo>
                    <a:pt x="165608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96747" y="5654784"/>
            <a:ext cx="3489960" cy="127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8"/>
              </a:lnSpc>
            </a:pPr>
            <a:r>
              <a:rPr lang="en-US" b="true" sz="2715" spc="-38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3.9s</a:t>
            </a:r>
          </a:p>
          <a:p>
            <a:pPr algn="ctr">
              <a:lnSpc>
                <a:spcPts val="2792"/>
              </a:lnSpc>
            </a:pPr>
            <a:r>
              <a:rPr lang="en-US" sz="2327" spc="-33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retrieval started before the utterance ended (demo)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05807" y="5279574"/>
            <a:ext cx="4047172" cy="2058352"/>
            <a:chOff x="0" y="0"/>
            <a:chExt cx="5396230" cy="2744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95595" cy="2744089"/>
            </a:xfrm>
            <a:custGeom>
              <a:avLst/>
              <a:gdLst/>
              <a:ahLst/>
              <a:cxnLst/>
              <a:rect r="r" b="b" t="t" l="l"/>
              <a:pathLst>
                <a:path h="2744089" w="5395595">
                  <a:moveTo>
                    <a:pt x="165608" y="0"/>
                  </a:moveTo>
                  <a:lnTo>
                    <a:pt x="82804" y="22352"/>
                  </a:lnTo>
                  <a:lnTo>
                    <a:pt x="22987" y="82804"/>
                  </a:lnTo>
                  <a:lnTo>
                    <a:pt x="762" y="164846"/>
                  </a:lnTo>
                  <a:lnTo>
                    <a:pt x="0" y="2578989"/>
                  </a:lnTo>
                  <a:lnTo>
                    <a:pt x="1397" y="2600579"/>
                  </a:lnTo>
                  <a:lnTo>
                    <a:pt x="1397" y="2600960"/>
                  </a:lnTo>
                  <a:lnTo>
                    <a:pt x="5588" y="2621788"/>
                  </a:lnTo>
                  <a:lnTo>
                    <a:pt x="5715" y="2622169"/>
                  </a:lnTo>
                  <a:lnTo>
                    <a:pt x="12573" y="2642108"/>
                  </a:lnTo>
                  <a:lnTo>
                    <a:pt x="64643" y="2709672"/>
                  </a:lnTo>
                  <a:lnTo>
                    <a:pt x="143256" y="2742565"/>
                  </a:lnTo>
                  <a:lnTo>
                    <a:pt x="164846" y="2744089"/>
                  </a:lnTo>
                  <a:lnTo>
                    <a:pt x="5230749" y="2744089"/>
                  </a:lnTo>
                  <a:lnTo>
                    <a:pt x="5313553" y="2721737"/>
                  </a:lnTo>
                  <a:lnTo>
                    <a:pt x="5373243" y="2661285"/>
                  </a:lnTo>
                  <a:lnTo>
                    <a:pt x="5395595" y="2579243"/>
                  </a:lnTo>
                  <a:lnTo>
                    <a:pt x="5395595" y="165100"/>
                  </a:lnTo>
                  <a:lnTo>
                    <a:pt x="5373370" y="83058"/>
                  </a:lnTo>
                  <a:lnTo>
                    <a:pt x="5312918" y="23241"/>
                  </a:lnTo>
                  <a:lnTo>
                    <a:pt x="5230749" y="762"/>
                  </a:lnTo>
                  <a:lnTo>
                    <a:pt x="165608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099609" y="5654784"/>
            <a:ext cx="3853241" cy="127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8"/>
              </a:lnSpc>
            </a:pPr>
            <a:r>
              <a:rPr lang="en-US" sz="2715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3 in 1</a:t>
            </a:r>
          </a:p>
          <a:p>
            <a:pPr algn="ctr">
              <a:lnSpc>
                <a:spcPts val="2792"/>
              </a:lnSpc>
            </a:pPr>
            <a:r>
              <a:rPr lang="en-US" sz="232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separate intents found in one sentence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89187" y="5279574"/>
            <a:ext cx="4047172" cy="2058352"/>
            <a:chOff x="0" y="0"/>
            <a:chExt cx="5396230" cy="27444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95722" cy="2744089"/>
            </a:xfrm>
            <a:custGeom>
              <a:avLst/>
              <a:gdLst/>
              <a:ahLst/>
              <a:cxnLst/>
              <a:rect r="r" b="b" t="t" l="l"/>
              <a:pathLst>
                <a:path h="2744089" w="5395722">
                  <a:moveTo>
                    <a:pt x="165608" y="0"/>
                  </a:moveTo>
                  <a:lnTo>
                    <a:pt x="82804" y="22352"/>
                  </a:lnTo>
                  <a:lnTo>
                    <a:pt x="22987" y="82804"/>
                  </a:lnTo>
                  <a:lnTo>
                    <a:pt x="762" y="164846"/>
                  </a:lnTo>
                  <a:lnTo>
                    <a:pt x="0" y="2578989"/>
                  </a:lnTo>
                  <a:lnTo>
                    <a:pt x="1397" y="2600579"/>
                  </a:lnTo>
                  <a:lnTo>
                    <a:pt x="1397" y="2600960"/>
                  </a:lnTo>
                  <a:lnTo>
                    <a:pt x="5588" y="2621788"/>
                  </a:lnTo>
                  <a:lnTo>
                    <a:pt x="5715" y="2622169"/>
                  </a:lnTo>
                  <a:lnTo>
                    <a:pt x="12573" y="2642108"/>
                  </a:lnTo>
                  <a:lnTo>
                    <a:pt x="64643" y="2709672"/>
                  </a:lnTo>
                  <a:lnTo>
                    <a:pt x="143256" y="2742565"/>
                  </a:lnTo>
                  <a:lnTo>
                    <a:pt x="164846" y="2744089"/>
                  </a:lnTo>
                  <a:lnTo>
                    <a:pt x="5230749" y="2744089"/>
                  </a:lnTo>
                  <a:lnTo>
                    <a:pt x="5313553" y="2721737"/>
                  </a:lnTo>
                  <a:lnTo>
                    <a:pt x="5373243" y="2661285"/>
                  </a:lnTo>
                  <a:lnTo>
                    <a:pt x="5382641" y="2642616"/>
                  </a:lnTo>
                  <a:lnTo>
                    <a:pt x="5382895" y="2642235"/>
                  </a:lnTo>
                  <a:lnTo>
                    <a:pt x="5389753" y="2622296"/>
                  </a:lnTo>
                  <a:lnTo>
                    <a:pt x="5389880" y="2621915"/>
                  </a:lnTo>
                  <a:lnTo>
                    <a:pt x="5394071" y="2601087"/>
                  </a:lnTo>
                  <a:lnTo>
                    <a:pt x="5394198" y="2600706"/>
                  </a:lnTo>
                  <a:lnTo>
                    <a:pt x="5395722" y="2579116"/>
                  </a:lnTo>
                  <a:lnTo>
                    <a:pt x="5395722" y="164973"/>
                  </a:lnTo>
                  <a:lnTo>
                    <a:pt x="5373497" y="82931"/>
                  </a:lnTo>
                  <a:lnTo>
                    <a:pt x="5313045" y="23114"/>
                  </a:lnTo>
                  <a:lnTo>
                    <a:pt x="5230749" y="762"/>
                  </a:lnTo>
                  <a:lnTo>
                    <a:pt x="165608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330785" y="5729799"/>
            <a:ext cx="3763975" cy="107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b="true" sz="2266" spc="-80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0</a:t>
            </a:r>
          </a:p>
          <a:p>
            <a:pPr algn="ctr">
              <a:lnSpc>
                <a:spcPts val="2331"/>
              </a:lnSpc>
            </a:pPr>
            <a:r>
              <a:rPr lang="en-US" sz="1942" spc="-6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fabricated citations across the test set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372567" y="5279574"/>
            <a:ext cx="4047172" cy="2058352"/>
            <a:chOff x="0" y="0"/>
            <a:chExt cx="5396230" cy="27444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95722" cy="2743962"/>
            </a:xfrm>
            <a:custGeom>
              <a:avLst/>
              <a:gdLst/>
              <a:ahLst/>
              <a:cxnLst/>
              <a:rect r="r" b="b" t="t" l="l"/>
              <a:pathLst>
                <a:path h="2743962" w="5395722">
                  <a:moveTo>
                    <a:pt x="165608" y="0"/>
                  </a:moveTo>
                  <a:lnTo>
                    <a:pt x="82804" y="22352"/>
                  </a:lnTo>
                  <a:lnTo>
                    <a:pt x="22987" y="82804"/>
                  </a:lnTo>
                  <a:lnTo>
                    <a:pt x="762" y="164846"/>
                  </a:lnTo>
                  <a:lnTo>
                    <a:pt x="0" y="2578989"/>
                  </a:lnTo>
                  <a:lnTo>
                    <a:pt x="1397" y="2600579"/>
                  </a:lnTo>
                  <a:lnTo>
                    <a:pt x="1397" y="2600960"/>
                  </a:lnTo>
                  <a:lnTo>
                    <a:pt x="5588" y="2621788"/>
                  </a:lnTo>
                  <a:lnTo>
                    <a:pt x="5715" y="2622169"/>
                  </a:lnTo>
                  <a:lnTo>
                    <a:pt x="12573" y="2642108"/>
                  </a:lnTo>
                  <a:lnTo>
                    <a:pt x="12700" y="2642489"/>
                  </a:lnTo>
                  <a:lnTo>
                    <a:pt x="22225" y="2661920"/>
                  </a:lnTo>
                  <a:lnTo>
                    <a:pt x="34036" y="2679319"/>
                  </a:lnTo>
                  <a:lnTo>
                    <a:pt x="34290" y="2679573"/>
                  </a:lnTo>
                  <a:lnTo>
                    <a:pt x="101854" y="2731262"/>
                  </a:lnTo>
                  <a:lnTo>
                    <a:pt x="164846" y="2743962"/>
                  </a:lnTo>
                  <a:lnTo>
                    <a:pt x="5230749" y="2743962"/>
                  </a:lnTo>
                  <a:lnTo>
                    <a:pt x="5313553" y="2721610"/>
                  </a:lnTo>
                  <a:lnTo>
                    <a:pt x="5373243" y="2661158"/>
                  </a:lnTo>
                  <a:lnTo>
                    <a:pt x="5382641" y="2642489"/>
                  </a:lnTo>
                  <a:lnTo>
                    <a:pt x="5382895" y="2642108"/>
                  </a:lnTo>
                  <a:lnTo>
                    <a:pt x="5389753" y="2622169"/>
                  </a:lnTo>
                  <a:lnTo>
                    <a:pt x="5389880" y="2621788"/>
                  </a:lnTo>
                  <a:lnTo>
                    <a:pt x="5394071" y="2600960"/>
                  </a:lnTo>
                  <a:lnTo>
                    <a:pt x="5394198" y="2600579"/>
                  </a:lnTo>
                  <a:lnTo>
                    <a:pt x="5395722" y="2578989"/>
                  </a:lnTo>
                  <a:lnTo>
                    <a:pt x="5395722" y="164846"/>
                  </a:lnTo>
                  <a:lnTo>
                    <a:pt x="5373497" y="82804"/>
                  </a:lnTo>
                  <a:lnTo>
                    <a:pt x="5313045" y="22987"/>
                  </a:lnTo>
                  <a:lnTo>
                    <a:pt x="5230749" y="762"/>
                  </a:lnTo>
                  <a:lnTo>
                    <a:pt x="165608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625484" y="5857108"/>
            <a:ext cx="3541338" cy="82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b="true" sz="2448" spc="-43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$0</a:t>
            </a:r>
          </a:p>
          <a:p>
            <a:pPr algn="ctr">
              <a:lnSpc>
                <a:spcPts val="2518"/>
              </a:lnSpc>
            </a:pPr>
            <a:r>
              <a:rPr lang="en-US" sz="2098" spc="-3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cost in offline extractive mode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22427" y="7543267"/>
            <a:ext cx="8229600" cy="1920240"/>
            <a:chOff x="0" y="0"/>
            <a:chExt cx="10972800" cy="2560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2560193"/>
            </a:xfrm>
            <a:custGeom>
              <a:avLst/>
              <a:gdLst/>
              <a:ahLst/>
              <a:cxnLst/>
              <a:rect r="r" b="b" t="t" l="l"/>
              <a:pathLst>
                <a:path h="2560193" w="10972800">
                  <a:moveTo>
                    <a:pt x="10818749" y="0"/>
                  </a:moveTo>
                  <a:lnTo>
                    <a:pt x="153289" y="0"/>
                  </a:lnTo>
                  <a:lnTo>
                    <a:pt x="131572" y="1397"/>
                  </a:lnTo>
                  <a:lnTo>
                    <a:pt x="132842" y="1397"/>
                  </a:lnTo>
                  <a:lnTo>
                    <a:pt x="113792" y="4953"/>
                  </a:lnTo>
                  <a:lnTo>
                    <a:pt x="44704" y="44958"/>
                  </a:lnTo>
                  <a:lnTo>
                    <a:pt x="5334" y="113792"/>
                  </a:lnTo>
                  <a:lnTo>
                    <a:pt x="0" y="153289"/>
                  </a:lnTo>
                  <a:lnTo>
                    <a:pt x="0" y="2406904"/>
                  </a:lnTo>
                  <a:lnTo>
                    <a:pt x="20193" y="2483231"/>
                  </a:lnTo>
                  <a:lnTo>
                    <a:pt x="76327" y="2539365"/>
                  </a:lnTo>
                  <a:lnTo>
                    <a:pt x="153416" y="2560193"/>
                  </a:lnTo>
                  <a:lnTo>
                    <a:pt x="10819511" y="2559431"/>
                  </a:lnTo>
                  <a:lnTo>
                    <a:pt x="10895838" y="2539238"/>
                  </a:lnTo>
                  <a:lnTo>
                    <a:pt x="10951972" y="2483104"/>
                  </a:lnTo>
                  <a:lnTo>
                    <a:pt x="10971402" y="2426716"/>
                  </a:lnTo>
                  <a:lnTo>
                    <a:pt x="10971530" y="2425954"/>
                  </a:lnTo>
                  <a:lnTo>
                    <a:pt x="10972800" y="2406777"/>
                  </a:lnTo>
                  <a:lnTo>
                    <a:pt x="10972800" y="2406015"/>
                  </a:lnTo>
                  <a:lnTo>
                    <a:pt x="10972038" y="153162"/>
                  </a:lnTo>
                  <a:lnTo>
                    <a:pt x="10951845" y="76835"/>
                  </a:lnTo>
                  <a:lnTo>
                    <a:pt x="10895711" y="20701"/>
                  </a:lnTo>
                  <a:lnTo>
                    <a:pt x="10838561" y="1143"/>
                  </a:lnTo>
                  <a:lnTo>
                    <a:pt x="10818749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01001" y="7620429"/>
            <a:ext cx="7186612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-17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Who benefits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2639"/>
              </a:lnSpc>
            </a:pPr>
            <a:r>
              <a:rPr lang="en-US" sz="2199" spc="-15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Users get faster, trustworthy answers; teams get an auditable, low-cost engine.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89187" y="7543267"/>
            <a:ext cx="8229600" cy="1920240"/>
            <a:chOff x="0" y="0"/>
            <a:chExt cx="10972800" cy="2560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673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972673">
                  <a:moveTo>
                    <a:pt x="10818749" y="0"/>
                  </a:moveTo>
                  <a:lnTo>
                    <a:pt x="153289" y="0"/>
                  </a:lnTo>
                  <a:lnTo>
                    <a:pt x="131572" y="1397"/>
                  </a:lnTo>
                  <a:lnTo>
                    <a:pt x="132842" y="1397"/>
                  </a:lnTo>
                  <a:lnTo>
                    <a:pt x="113792" y="4953"/>
                  </a:lnTo>
                  <a:lnTo>
                    <a:pt x="44704" y="44958"/>
                  </a:lnTo>
                  <a:lnTo>
                    <a:pt x="5334" y="113792"/>
                  </a:lnTo>
                  <a:lnTo>
                    <a:pt x="0" y="153289"/>
                  </a:lnTo>
                  <a:lnTo>
                    <a:pt x="0" y="2406904"/>
                  </a:lnTo>
                  <a:lnTo>
                    <a:pt x="1143" y="2426081"/>
                  </a:lnTo>
                  <a:lnTo>
                    <a:pt x="1143" y="2426843"/>
                  </a:lnTo>
                  <a:lnTo>
                    <a:pt x="4699" y="2445766"/>
                  </a:lnTo>
                  <a:lnTo>
                    <a:pt x="4826" y="2446401"/>
                  </a:lnTo>
                  <a:lnTo>
                    <a:pt x="44577" y="2515362"/>
                  </a:lnTo>
                  <a:lnTo>
                    <a:pt x="113665" y="2554986"/>
                  </a:lnTo>
                  <a:lnTo>
                    <a:pt x="153289" y="2560320"/>
                  </a:lnTo>
                  <a:lnTo>
                    <a:pt x="10819384" y="2559558"/>
                  </a:lnTo>
                  <a:lnTo>
                    <a:pt x="10895711" y="2539365"/>
                  </a:lnTo>
                  <a:lnTo>
                    <a:pt x="10951845" y="2483231"/>
                  </a:lnTo>
                  <a:lnTo>
                    <a:pt x="10967212" y="2446401"/>
                  </a:lnTo>
                  <a:lnTo>
                    <a:pt x="10967465" y="2445766"/>
                  </a:lnTo>
                  <a:lnTo>
                    <a:pt x="10971276" y="2426843"/>
                  </a:lnTo>
                  <a:lnTo>
                    <a:pt x="10971402" y="2426081"/>
                  </a:lnTo>
                  <a:lnTo>
                    <a:pt x="10972673" y="2406904"/>
                  </a:lnTo>
                  <a:lnTo>
                    <a:pt x="10972038" y="153289"/>
                  </a:lnTo>
                  <a:lnTo>
                    <a:pt x="10951845" y="76962"/>
                  </a:lnTo>
                  <a:lnTo>
                    <a:pt x="10895711" y="20828"/>
                  </a:lnTo>
                  <a:lnTo>
                    <a:pt x="10838561" y="1270"/>
                  </a:lnTo>
                  <a:lnTo>
                    <a:pt x="10818749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367761" y="7620429"/>
            <a:ext cx="705040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39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Why it scales</a:t>
            </a:r>
          </a:p>
          <a:p>
            <a:pPr algn="ctr">
              <a:lnSpc>
                <a:spcPts val="2879"/>
              </a:lnSpc>
            </a:pPr>
          </a:p>
          <a:p>
            <a:pPr algn="ctr">
              <a:lnSpc>
                <a:spcPts val="2519"/>
              </a:lnSpc>
            </a:pPr>
            <a:r>
              <a:rPr lang="en-US" sz="2099" spc="-14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Drop in any document folder; swap embedding model or LLM through configuration.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1375239" y="540439"/>
            <a:ext cx="10566082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 spc="-14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 highlights, results and limitations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14861" y="1774981"/>
          <a:ext cx="9848850" cy="3543300"/>
        </p:xfrm>
        <a:graphic>
          <a:graphicData uri="http://schemas.openxmlformats.org/drawingml/2006/table">
            <a:tbl>
              <a:tblPr/>
              <a:tblGrid>
                <a:gridCol w="3809320"/>
                <a:gridCol w="1788659"/>
                <a:gridCol w="2058081"/>
                <a:gridCol w="2192790"/>
              </a:tblGrid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Metric (22 sessions)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14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Target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3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Ours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Classic RAG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G2 early retrieval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&gt;=80%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7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G3 multi-intent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&gt;=70%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7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G4 grounded citations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&gt;=85%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G5 refinement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pass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7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G6 telemetry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3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964702" y="1774981"/>
          <a:ext cx="6438900" cy="3543300"/>
        </p:xfrm>
        <a:graphic>
          <a:graphicData uri="http://schemas.openxmlformats.org/drawingml/2006/table">
            <a:tbl>
              <a:tblPr/>
              <a:tblGrid>
                <a:gridCol w="2745560"/>
                <a:gridCol w="3693340"/>
              </a:tblGrid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 spc="-15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Ablation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b="true" sz="1650" spc="-15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Result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spc="-1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No decomposition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G3 0%, G5 75%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Sparse only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 gates, TTFT 115ms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Dense only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100% gates, TTFT 175ms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spc="-1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Full hybrid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recall 1.0, TTFT 158ms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spc="-1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Baseline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recall 0.96, TTFT 247ms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822427" y="5554980"/>
            <a:ext cx="5486400" cy="3909060"/>
          </a:xfrm>
          <a:custGeom>
            <a:avLst/>
            <a:gdLst/>
            <a:ahLst/>
            <a:cxnLst/>
            <a:rect r="r" b="b" t="t" l="l"/>
            <a:pathLst>
              <a:path h="3909060" w="5486400">
                <a:moveTo>
                  <a:pt x="0" y="0"/>
                </a:moveTo>
                <a:lnTo>
                  <a:pt x="5486400" y="0"/>
                </a:lnTo>
                <a:lnTo>
                  <a:pt x="5486400" y="3909060"/>
                </a:lnTo>
                <a:lnTo>
                  <a:pt x="0" y="3909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6110" y="5657745"/>
            <a:ext cx="5272716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b="true" sz="2766" spc="-19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Innovation</a:t>
            </a:r>
          </a:p>
          <a:p>
            <a:pPr algn="l">
              <a:lnSpc>
                <a:spcPts val="3319"/>
              </a:lnSpc>
            </a:pPr>
          </a:p>
          <a:p>
            <a:pPr algn="l" marL="462457" indent="-231229" lvl="1">
              <a:lnSpc>
                <a:spcPts val="2897"/>
              </a:lnSpc>
              <a:buFont typeface="Arial"/>
              <a:buChar char="•"/>
            </a:pPr>
            <a:r>
              <a:rPr lang="en-US" sz="2414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Decide when to retrieve, not just what</a:t>
            </a:r>
          </a:p>
          <a:p>
            <a:pPr algn="l" marL="462457" indent="-231229" lvl="1">
              <a:lnSpc>
                <a:spcPts val="2897"/>
              </a:lnSpc>
              <a:buFont typeface="Arial"/>
              <a:buChar char="•"/>
            </a:pPr>
            <a:r>
              <a:rPr lang="en-US" sz="2414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Answer versioning with kept/added lineage</a:t>
            </a:r>
          </a:p>
          <a:p>
            <a:pPr algn="l" marL="462457" indent="-231229" lvl="1">
              <a:lnSpc>
                <a:spcPts val="2897"/>
              </a:lnSpc>
              <a:buFont typeface="Arial"/>
              <a:buChar char="•"/>
            </a:pPr>
            <a:r>
              <a:rPr lang="en-US" sz="2414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Citation validator strips fake IDs</a:t>
            </a:r>
          </a:p>
          <a:p>
            <a:pPr algn="l" marL="462457" indent="-231229" lvl="1">
              <a:lnSpc>
                <a:spcPts val="2897"/>
              </a:lnSpc>
              <a:buFont typeface="Arial"/>
              <a:buChar char="•"/>
            </a:pPr>
            <a:r>
              <a:rPr lang="en-US" sz="2414" spc="-17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Works offline; no heavy agents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45987" y="5554980"/>
            <a:ext cx="5486400" cy="3909060"/>
          </a:xfrm>
          <a:custGeom>
            <a:avLst/>
            <a:gdLst/>
            <a:ahLst/>
            <a:cxnLst/>
            <a:rect r="r" b="b" t="t" l="l"/>
            <a:pathLst>
              <a:path h="3909060" w="5486400">
                <a:moveTo>
                  <a:pt x="0" y="0"/>
                </a:moveTo>
                <a:lnTo>
                  <a:pt x="5486400" y="0"/>
                </a:lnTo>
                <a:lnTo>
                  <a:pt x="5486400" y="3909060"/>
                </a:lnTo>
                <a:lnTo>
                  <a:pt x="0" y="39090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58280" y="5737382"/>
            <a:ext cx="5071473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b="true" sz="2497" spc="-17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Limitations</a:t>
            </a:r>
          </a:p>
          <a:p>
            <a:pPr algn="l">
              <a:lnSpc>
                <a:spcPts val="2997"/>
              </a:lnSpc>
            </a:pPr>
          </a:p>
          <a:p>
            <a:pPr algn="l" marL="415595" indent="-207798" lvl="1">
              <a:lnSpc>
                <a:spcPts val="2603"/>
              </a:lnSpc>
              <a:buFont typeface="Arial"/>
              <a:buChar char="•"/>
            </a:pPr>
            <a:r>
              <a:rPr lang="en-US" sz="2169" spc="-15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Test set self-written, so scores are optimistic</a:t>
            </a:r>
          </a:p>
          <a:p>
            <a:pPr algn="l" marL="415595" indent="-207798" lvl="1">
              <a:lnSpc>
                <a:spcPts val="2603"/>
              </a:lnSpc>
              <a:buFont typeface="Arial"/>
              <a:buChar char="•"/>
            </a:pPr>
            <a:r>
              <a:rPr lang="en-US" sz="2169" spc="-15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Topic switch after an answer is treated as refinement</a:t>
            </a:r>
          </a:p>
          <a:p>
            <a:pPr algn="l" marL="415595" indent="-207798" lvl="1">
              <a:lnSpc>
                <a:spcPts val="2603"/>
              </a:lnSpc>
              <a:buFont typeface="Arial"/>
              <a:buChar char="•"/>
            </a:pPr>
            <a:r>
              <a:rPr lang="en-US" sz="2169" spc="-15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Typos and filler words not normalised</a:t>
            </a:r>
          </a:p>
          <a:p>
            <a:pPr algn="l" marL="415595" indent="-207798" lvl="1">
              <a:lnSpc>
                <a:spcPts val="2603"/>
              </a:lnSpc>
              <a:buFont typeface="Arial"/>
              <a:buChar char="•"/>
            </a:pPr>
            <a:r>
              <a:rPr lang="en-US" sz="2169" spc="-15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Rule-based controller tuned on English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069547" y="5554980"/>
            <a:ext cx="5349240" cy="3909060"/>
          </a:xfrm>
          <a:custGeom>
            <a:avLst/>
            <a:gdLst/>
            <a:ahLst/>
            <a:cxnLst/>
            <a:rect r="r" b="b" t="t" l="l"/>
            <a:pathLst>
              <a:path h="3909060" w="5349240">
                <a:moveTo>
                  <a:pt x="0" y="0"/>
                </a:moveTo>
                <a:lnTo>
                  <a:pt x="5349240" y="0"/>
                </a:lnTo>
                <a:lnTo>
                  <a:pt x="5349240" y="3909060"/>
                </a:lnTo>
                <a:lnTo>
                  <a:pt x="0" y="39090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381014" y="5879258"/>
            <a:ext cx="4726305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Honest note</a:t>
            </a:r>
          </a:p>
          <a:p>
            <a:pPr algn="l">
              <a:lnSpc>
                <a:spcPts val="287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209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Hidden judge transcripts may score lower. The full report adds 3 failure cases and 2 ablations against the baseline.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1375239" y="540439"/>
            <a:ext cx="10566082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4500" spc="-14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What’s next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2427" y="1850574"/>
            <a:ext cx="4047172" cy="5761672"/>
          </a:xfrm>
          <a:custGeom>
            <a:avLst/>
            <a:gdLst/>
            <a:ahLst/>
            <a:cxnLst/>
            <a:rect r="r" b="b" t="t" l="l"/>
            <a:pathLst>
              <a:path h="5761672" w="4047172">
                <a:moveTo>
                  <a:pt x="0" y="0"/>
                </a:moveTo>
                <a:lnTo>
                  <a:pt x="4047172" y="0"/>
                </a:lnTo>
                <a:lnTo>
                  <a:pt x="4047172" y="5761673"/>
                </a:lnTo>
                <a:lnTo>
                  <a:pt x="0" y="5761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38816" y="2244566"/>
            <a:ext cx="3614566" cy="35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Near term</a:t>
            </a:r>
          </a:p>
          <a:p>
            <a:pPr algn="l">
              <a:lnSpc>
                <a:spcPts val="3419"/>
              </a:lnSpc>
            </a:pPr>
          </a:p>
          <a:p>
            <a:pPr algn="l" marL="486394" indent="-243197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Topic-switch detector so unrelated turns start a fresh answer</a:t>
            </a:r>
          </a:p>
          <a:p>
            <a:pPr algn="l" marL="486394" indent="-243197" lvl="1">
              <a:lnSpc>
                <a:spcPts val="3059"/>
              </a:lnSpc>
              <a:buFont typeface="Arial"/>
              <a:buChar char="•"/>
            </a:pPr>
            <a:r>
              <a:rPr lang="en-US" sz="2549" spc="-1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Typo and filler-word normalisation</a:t>
            </a:r>
          </a:p>
          <a:p>
            <a:pPr algn="l" marL="486394" indent="-243197" lvl="1">
              <a:lnSpc>
                <a:spcPts val="3059"/>
              </a:lnSpc>
              <a:buFont typeface="Arial"/>
              <a:buChar char="•"/>
            </a:pPr>
            <a:r>
              <a:rPr lang="en-US" sz="2549" spc="-1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Learned controller vs rule-based ablation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005807" y="1850574"/>
            <a:ext cx="4047172" cy="5761672"/>
          </a:xfrm>
          <a:custGeom>
            <a:avLst/>
            <a:gdLst/>
            <a:ahLst/>
            <a:cxnLst/>
            <a:rect r="r" b="b" t="t" l="l"/>
            <a:pathLst>
              <a:path h="5761672" w="4047172">
                <a:moveTo>
                  <a:pt x="0" y="0"/>
                </a:moveTo>
                <a:lnTo>
                  <a:pt x="4047172" y="0"/>
                </a:lnTo>
                <a:lnTo>
                  <a:pt x="4047172" y="5761673"/>
                </a:lnTo>
                <a:lnTo>
                  <a:pt x="0" y="57616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11159" y="2296954"/>
            <a:ext cx="3287477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749" spc="-35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Mid term</a:t>
            </a:r>
          </a:p>
          <a:p>
            <a:pPr algn="l">
              <a:lnSpc>
                <a:spcPts val="3299"/>
              </a:lnSpc>
            </a:pPr>
          </a:p>
          <a:p>
            <a:pPr algn="l" marL="467320" indent="-233660" lvl="1">
              <a:lnSpc>
                <a:spcPts val="2939"/>
              </a:lnSpc>
              <a:buFont typeface="Arial"/>
              <a:buChar char="•"/>
            </a:pPr>
            <a:r>
              <a:rPr lang="en-US" sz="244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Real ASR input (Whisper streaming)</a:t>
            </a:r>
          </a:p>
          <a:p>
            <a:pPr algn="l" marL="467320" indent="-233660" lvl="1">
              <a:lnSpc>
                <a:spcPts val="2939"/>
              </a:lnSpc>
              <a:buFont typeface="Arial"/>
              <a:buChar char="•"/>
            </a:pPr>
            <a:r>
              <a:rPr lang="en-US" sz="244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Cross-encoder reranker</a:t>
            </a:r>
          </a:p>
          <a:p>
            <a:pPr algn="l" marL="467320" indent="-233660" lvl="1">
              <a:lnSpc>
                <a:spcPts val="2939"/>
              </a:lnSpc>
              <a:buFont typeface="Arial"/>
              <a:buChar char="•"/>
            </a:pPr>
            <a:r>
              <a:rPr lang="en-US" sz="244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Confidence-based early answer drafting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189187" y="1850574"/>
            <a:ext cx="4047172" cy="5761672"/>
          </a:xfrm>
          <a:custGeom>
            <a:avLst/>
            <a:gdLst/>
            <a:ahLst/>
            <a:cxnLst/>
            <a:rect r="r" b="b" t="t" l="l"/>
            <a:pathLst>
              <a:path h="5761672" w="4047172">
                <a:moveTo>
                  <a:pt x="0" y="0"/>
                </a:moveTo>
                <a:lnTo>
                  <a:pt x="4047172" y="0"/>
                </a:lnTo>
                <a:lnTo>
                  <a:pt x="4047172" y="5761673"/>
                </a:lnTo>
                <a:lnTo>
                  <a:pt x="0" y="5761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491129" y="2296954"/>
            <a:ext cx="3594735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4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Long term</a:t>
            </a:r>
          </a:p>
          <a:p>
            <a:pPr algn="l">
              <a:lnSpc>
                <a:spcPts val="3419"/>
              </a:lnSpc>
            </a:pPr>
          </a:p>
          <a:p>
            <a:pPr algn="l" marL="486394" indent="-243197" lvl="1">
              <a:lnSpc>
                <a:spcPts val="3059"/>
              </a:lnSpc>
              <a:buFont typeface="Arial"/>
              <a:buChar char="•"/>
            </a:pPr>
            <a:r>
              <a:rPr lang="en-US" sz="2549" spc="-1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Multilingual voice (Indian languages)</a:t>
            </a:r>
          </a:p>
          <a:p>
            <a:pPr algn="l" marL="486394" indent="-243197" lvl="1">
              <a:lnSpc>
                <a:spcPts val="3059"/>
              </a:lnSpc>
              <a:buFont typeface="Arial"/>
              <a:buChar char="•"/>
            </a:pPr>
            <a:r>
              <a:rPr lang="en-US" sz="2549" spc="-1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Speculative prefetch of likely follow-ups</a:t>
            </a:r>
          </a:p>
          <a:p>
            <a:pPr algn="l" marL="486394" indent="-243197" lvl="1">
              <a:lnSpc>
                <a:spcPts val="3059"/>
              </a:lnSpc>
              <a:buFont typeface="Arial"/>
              <a:buChar char="•"/>
            </a:pPr>
            <a:r>
              <a:rPr lang="en-US" sz="2549" spc="-1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Per-tenant corpora with access control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372567" y="1850574"/>
            <a:ext cx="4047172" cy="5761672"/>
          </a:xfrm>
          <a:custGeom>
            <a:avLst/>
            <a:gdLst/>
            <a:ahLst/>
            <a:cxnLst/>
            <a:rect r="r" b="b" t="t" l="l"/>
            <a:pathLst>
              <a:path h="5761672" w="4047172">
                <a:moveTo>
                  <a:pt x="0" y="0"/>
                </a:moveTo>
                <a:lnTo>
                  <a:pt x="4047172" y="0"/>
                </a:lnTo>
                <a:lnTo>
                  <a:pt x="4047172" y="5761673"/>
                </a:lnTo>
                <a:lnTo>
                  <a:pt x="0" y="57616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588784" y="2344579"/>
            <a:ext cx="3443288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b="true" sz="2749" spc="-1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Deliverables</a:t>
            </a:r>
          </a:p>
          <a:p>
            <a:pPr algn="l">
              <a:lnSpc>
                <a:spcPts val="3299"/>
              </a:lnSpc>
            </a:pPr>
          </a:p>
          <a:p>
            <a:pPr algn="l" marL="467320" indent="-233660" lvl="1">
              <a:lnSpc>
                <a:spcPts val="2939"/>
              </a:lnSpc>
              <a:buFont typeface="Arial"/>
              <a:buChar char="•"/>
            </a:pPr>
            <a:r>
              <a:rPr lang="en-US" sz="244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Architecture brief (&lt;=6 pages)</a:t>
            </a:r>
          </a:p>
          <a:p>
            <a:pPr algn="l" marL="467320" indent="-233660" lvl="1">
              <a:lnSpc>
                <a:spcPts val="2939"/>
              </a:lnSpc>
              <a:buFont typeface="Arial"/>
              <a:buChar char="•"/>
            </a:pPr>
            <a:r>
              <a:rPr lang="en-US" sz="244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Evaluation report with 3 failures</a:t>
            </a:r>
          </a:p>
          <a:p>
            <a:pPr algn="l" marL="467320" indent="-233660" lvl="1">
              <a:lnSpc>
                <a:spcPts val="2939"/>
              </a:lnSpc>
              <a:buFont typeface="Arial"/>
              <a:buChar char="•"/>
            </a:pPr>
            <a:r>
              <a:rPr lang="en-US" sz="244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Demo video (&lt;=5 min)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427" y="7886700"/>
            <a:ext cx="16596360" cy="1577340"/>
            <a:chOff x="0" y="0"/>
            <a:chExt cx="22128480" cy="2103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607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607">
                  <a:moveTo>
                    <a:pt x="22001735" y="0"/>
                  </a:moveTo>
                  <a:lnTo>
                    <a:pt x="125984" y="0"/>
                  </a:lnTo>
                  <a:lnTo>
                    <a:pt x="109474" y="1016"/>
                  </a:lnTo>
                  <a:lnTo>
                    <a:pt x="36957" y="36957"/>
                  </a:lnTo>
                  <a:lnTo>
                    <a:pt x="1016" y="109474"/>
                  </a:lnTo>
                  <a:lnTo>
                    <a:pt x="0" y="125984"/>
                  </a:lnTo>
                  <a:lnTo>
                    <a:pt x="0" y="1977136"/>
                  </a:lnTo>
                  <a:lnTo>
                    <a:pt x="1016" y="1993011"/>
                  </a:lnTo>
                  <a:lnTo>
                    <a:pt x="1016" y="1993773"/>
                  </a:lnTo>
                  <a:lnTo>
                    <a:pt x="36830" y="2066163"/>
                  </a:lnTo>
                  <a:lnTo>
                    <a:pt x="109347" y="2102104"/>
                  </a:lnTo>
                  <a:lnTo>
                    <a:pt x="125984" y="2103120"/>
                  </a:lnTo>
                  <a:lnTo>
                    <a:pt x="22002497" y="2102358"/>
                  </a:lnTo>
                  <a:lnTo>
                    <a:pt x="22079077" y="2076323"/>
                  </a:lnTo>
                  <a:lnTo>
                    <a:pt x="22124163" y="2009648"/>
                  </a:lnTo>
                  <a:lnTo>
                    <a:pt x="22124417" y="2009013"/>
                  </a:lnTo>
                  <a:lnTo>
                    <a:pt x="22127465" y="1993519"/>
                  </a:lnTo>
                  <a:lnTo>
                    <a:pt x="22127592" y="1992757"/>
                  </a:lnTo>
                  <a:lnTo>
                    <a:pt x="22128607" y="1976882"/>
                  </a:lnTo>
                  <a:lnTo>
                    <a:pt x="22127973" y="125730"/>
                  </a:lnTo>
                  <a:lnTo>
                    <a:pt x="22101938" y="49149"/>
                  </a:lnTo>
                  <a:lnTo>
                    <a:pt x="22034500" y="4191"/>
                  </a:lnTo>
                  <a:lnTo>
                    <a:pt x="22018371" y="1016"/>
                  </a:lnTo>
                  <a:lnTo>
                    <a:pt x="22001735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7689" y="8080057"/>
            <a:ext cx="16014382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b="true" sz="2749" spc="-36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Goal</a:t>
            </a:r>
          </a:p>
          <a:p>
            <a:pPr algn="ctr">
              <a:lnSpc>
                <a:spcPts val="2939"/>
              </a:lnSpc>
            </a:pPr>
            <a:r>
              <a:rPr lang="en-US" sz="2449" spc="-32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Move from a validated prototype to a production voice-RAG component that stays cheap, grounded and auditable as corpora and languages grow.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1375239" y="540439"/>
            <a:ext cx="10566082" cy="80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Brownie points slide( differentiation)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2427" y="1851127"/>
            <a:ext cx="4047172" cy="2949892"/>
            <a:chOff x="0" y="0"/>
            <a:chExt cx="5396230" cy="39331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95595" cy="3932682"/>
            </a:xfrm>
            <a:custGeom>
              <a:avLst/>
              <a:gdLst/>
              <a:ahLst/>
              <a:cxnLst/>
              <a:rect r="r" b="b" t="t" l="l"/>
              <a:pathLst>
                <a:path h="3932682" w="5395595">
                  <a:moveTo>
                    <a:pt x="236855" y="0"/>
                  </a:moveTo>
                  <a:lnTo>
                    <a:pt x="146558" y="17907"/>
                  </a:lnTo>
                  <a:lnTo>
                    <a:pt x="69850" y="69215"/>
                  </a:lnTo>
                  <a:lnTo>
                    <a:pt x="18669" y="145796"/>
                  </a:lnTo>
                  <a:lnTo>
                    <a:pt x="762" y="236093"/>
                  </a:lnTo>
                  <a:lnTo>
                    <a:pt x="0" y="3696462"/>
                  </a:lnTo>
                  <a:lnTo>
                    <a:pt x="2032" y="3727450"/>
                  </a:lnTo>
                  <a:lnTo>
                    <a:pt x="31750" y="3814572"/>
                  </a:lnTo>
                  <a:lnTo>
                    <a:pt x="92329" y="3883787"/>
                  </a:lnTo>
                  <a:lnTo>
                    <a:pt x="175006" y="3924681"/>
                  </a:lnTo>
                  <a:lnTo>
                    <a:pt x="236220" y="3932682"/>
                  </a:lnTo>
                  <a:lnTo>
                    <a:pt x="5159502" y="3932682"/>
                  </a:lnTo>
                  <a:lnTo>
                    <a:pt x="5249799" y="3914775"/>
                  </a:lnTo>
                  <a:lnTo>
                    <a:pt x="5326380" y="3863467"/>
                  </a:lnTo>
                  <a:lnTo>
                    <a:pt x="5377688" y="3786886"/>
                  </a:lnTo>
                  <a:lnTo>
                    <a:pt x="5395595" y="3696589"/>
                  </a:lnTo>
                  <a:lnTo>
                    <a:pt x="5395595" y="236220"/>
                  </a:lnTo>
                  <a:lnTo>
                    <a:pt x="5377688" y="146685"/>
                  </a:lnTo>
                  <a:lnTo>
                    <a:pt x="5326380" y="69977"/>
                  </a:lnTo>
                  <a:lnTo>
                    <a:pt x="5249799" y="18669"/>
                  </a:lnTo>
                  <a:lnTo>
                    <a:pt x="5159502" y="762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061200"/>
            <a:ext cx="3388995" cy="11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Explicit uncertainty</a:t>
            </a:r>
          </a:p>
          <a:p>
            <a:pPr algn="l">
              <a:lnSpc>
                <a:spcPts val="3056"/>
              </a:lnSpc>
            </a:pPr>
            <a:r>
              <a:rPr lang="en-US" sz="234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34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Says it cannot verify instead of guessing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005807" y="1851127"/>
            <a:ext cx="4047172" cy="2949892"/>
            <a:chOff x="0" y="0"/>
            <a:chExt cx="5396230" cy="39331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5595" cy="3932682"/>
            </a:xfrm>
            <a:custGeom>
              <a:avLst/>
              <a:gdLst/>
              <a:ahLst/>
              <a:cxnLst/>
              <a:rect r="r" b="b" t="t" l="l"/>
              <a:pathLst>
                <a:path h="3932682" w="5395595">
                  <a:moveTo>
                    <a:pt x="236855" y="0"/>
                  </a:moveTo>
                  <a:lnTo>
                    <a:pt x="146558" y="17907"/>
                  </a:lnTo>
                  <a:lnTo>
                    <a:pt x="69850" y="69215"/>
                  </a:lnTo>
                  <a:lnTo>
                    <a:pt x="18669" y="145796"/>
                  </a:lnTo>
                  <a:lnTo>
                    <a:pt x="762" y="236093"/>
                  </a:lnTo>
                  <a:lnTo>
                    <a:pt x="0" y="3696462"/>
                  </a:lnTo>
                  <a:lnTo>
                    <a:pt x="2032" y="3727450"/>
                  </a:lnTo>
                  <a:lnTo>
                    <a:pt x="31750" y="3814572"/>
                  </a:lnTo>
                  <a:lnTo>
                    <a:pt x="92329" y="3883787"/>
                  </a:lnTo>
                  <a:lnTo>
                    <a:pt x="175006" y="3924681"/>
                  </a:lnTo>
                  <a:lnTo>
                    <a:pt x="236220" y="3932682"/>
                  </a:lnTo>
                  <a:lnTo>
                    <a:pt x="5159502" y="3932682"/>
                  </a:lnTo>
                  <a:lnTo>
                    <a:pt x="5249799" y="3914775"/>
                  </a:lnTo>
                  <a:lnTo>
                    <a:pt x="5326380" y="3863467"/>
                  </a:lnTo>
                  <a:lnTo>
                    <a:pt x="5377688" y="3786886"/>
                  </a:lnTo>
                  <a:lnTo>
                    <a:pt x="5395595" y="3696589"/>
                  </a:lnTo>
                  <a:lnTo>
                    <a:pt x="5395595" y="236220"/>
                  </a:lnTo>
                  <a:lnTo>
                    <a:pt x="5377688" y="146685"/>
                  </a:lnTo>
                  <a:lnTo>
                    <a:pt x="5326380" y="69977"/>
                  </a:lnTo>
                  <a:lnTo>
                    <a:pt x="5249799" y="18669"/>
                  </a:lnTo>
                  <a:lnTo>
                    <a:pt x="5159502" y="762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202746" y="2061200"/>
            <a:ext cx="3142298" cy="156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Citation firewall </a:t>
            </a:r>
          </a:p>
          <a:p>
            <a:pPr algn="l">
              <a:lnSpc>
                <a:spcPts val="3056"/>
              </a:lnSpc>
            </a:pPr>
            <a:r>
              <a:rPr lang="en-US" sz="234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Fabricated [Doc_99 §9] tags removed and logged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89187" y="1851127"/>
            <a:ext cx="4047172" cy="2949892"/>
            <a:chOff x="0" y="0"/>
            <a:chExt cx="5396230" cy="39331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5595" cy="3932682"/>
            </a:xfrm>
            <a:custGeom>
              <a:avLst/>
              <a:gdLst/>
              <a:ahLst/>
              <a:cxnLst/>
              <a:rect r="r" b="b" t="t" l="l"/>
              <a:pathLst>
                <a:path h="3932682" w="5395595">
                  <a:moveTo>
                    <a:pt x="236855" y="0"/>
                  </a:moveTo>
                  <a:lnTo>
                    <a:pt x="146558" y="17907"/>
                  </a:lnTo>
                  <a:lnTo>
                    <a:pt x="69850" y="69215"/>
                  </a:lnTo>
                  <a:lnTo>
                    <a:pt x="18669" y="145796"/>
                  </a:lnTo>
                  <a:lnTo>
                    <a:pt x="762" y="236093"/>
                  </a:lnTo>
                  <a:lnTo>
                    <a:pt x="0" y="3696462"/>
                  </a:lnTo>
                  <a:lnTo>
                    <a:pt x="2032" y="3727450"/>
                  </a:lnTo>
                  <a:lnTo>
                    <a:pt x="31750" y="3814572"/>
                  </a:lnTo>
                  <a:lnTo>
                    <a:pt x="92329" y="3883787"/>
                  </a:lnTo>
                  <a:lnTo>
                    <a:pt x="175006" y="3924681"/>
                  </a:lnTo>
                  <a:lnTo>
                    <a:pt x="236220" y="3932682"/>
                  </a:lnTo>
                  <a:lnTo>
                    <a:pt x="5159502" y="3932682"/>
                  </a:lnTo>
                  <a:lnTo>
                    <a:pt x="5249799" y="3914775"/>
                  </a:lnTo>
                  <a:lnTo>
                    <a:pt x="5326380" y="3863467"/>
                  </a:lnTo>
                  <a:lnTo>
                    <a:pt x="5377688" y="3786886"/>
                  </a:lnTo>
                  <a:lnTo>
                    <a:pt x="5395595" y="3696589"/>
                  </a:lnTo>
                  <a:lnTo>
                    <a:pt x="5395595" y="236220"/>
                  </a:lnTo>
                  <a:lnTo>
                    <a:pt x="5377688" y="146685"/>
                  </a:lnTo>
                  <a:lnTo>
                    <a:pt x="5326380" y="69977"/>
                  </a:lnTo>
                  <a:lnTo>
                    <a:pt x="5249799" y="18669"/>
                  </a:lnTo>
                  <a:lnTo>
                    <a:pt x="5159502" y="762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386126" y="2061200"/>
            <a:ext cx="3388995" cy="11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Answer lineage </a:t>
            </a:r>
          </a:p>
          <a:p>
            <a:pPr algn="l">
              <a:lnSpc>
                <a:spcPts val="3056"/>
              </a:lnSpc>
            </a:pPr>
            <a:r>
              <a:rPr lang="en-US" sz="234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Each version lists kept, added, dropped facts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372567" y="1851127"/>
            <a:ext cx="4047172" cy="2949892"/>
            <a:chOff x="0" y="0"/>
            <a:chExt cx="5396230" cy="39331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5595" cy="3932682"/>
            </a:xfrm>
            <a:custGeom>
              <a:avLst/>
              <a:gdLst/>
              <a:ahLst/>
              <a:cxnLst/>
              <a:rect r="r" b="b" t="t" l="l"/>
              <a:pathLst>
                <a:path h="3932682" w="5395595">
                  <a:moveTo>
                    <a:pt x="236855" y="0"/>
                  </a:moveTo>
                  <a:lnTo>
                    <a:pt x="146558" y="17907"/>
                  </a:lnTo>
                  <a:lnTo>
                    <a:pt x="69850" y="69215"/>
                  </a:lnTo>
                  <a:lnTo>
                    <a:pt x="18669" y="145796"/>
                  </a:lnTo>
                  <a:lnTo>
                    <a:pt x="762" y="236093"/>
                  </a:lnTo>
                  <a:lnTo>
                    <a:pt x="0" y="3696462"/>
                  </a:lnTo>
                  <a:lnTo>
                    <a:pt x="2032" y="3727450"/>
                  </a:lnTo>
                  <a:lnTo>
                    <a:pt x="31750" y="3814572"/>
                  </a:lnTo>
                  <a:lnTo>
                    <a:pt x="92329" y="3883787"/>
                  </a:lnTo>
                  <a:lnTo>
                    <a:pt x="175006" y="3924681"/>
                  </a:lnTo>
                  <a:lnTo>
                    <a:pt x="236220" y="3932682"/>
                  </a:lnTo>
                  <a:lnTo>
                    <a:pt x="5159502" y="3932682"/>
                  </a:lnTo>
                  <a:lnTo>
                    <a:pt x="5249799" y="3914775"/>
                  </a:lnTo>
                  <a:lnTo>
                    <a:pt x="5326380" y="3863467"/>
                  </a:lnTo>
                  <a:lnTo>
                    <a:pt x="5377688" y="3786886"/>
                  </a:lnTo>
                  <a:lnTo>
                    <a:pt x="5395595" y="3696589"/>
                  </a:lnTo>
                  <a:lnTo>
                    <a:pt x="5395595" y="236220"/>
                  </a:lnTo>
                  <a:lnTo>
                    <a:pt x="5377688" y="146685"/>
                  </a:lnTo>
                  <a:lnTo>
                    <a:pt x="5326380" y="69977"/>
                  </a:lnTo>
                  <a:lnTo>
                    <a:pt x="5249799" y="18669"/>
                  </a:lnTo>
                  <a:lnTo>
                    <a:pt x="5159502" y="762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54253" y="2061200"/>
            <a:ext cx="3608070" cy="11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Suppression logic </a:t>
            </a:r>
          </a:p>
          <a:p>
            <a:pPr algn="l">
              <a:lnSpc>
                <a:spcPts val="3056"/>
              </a:lnSpc>
            </a:pPr>
            <a:r>
              <a:rPr lang="en-US" sz="234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Reformat and chit-chat cost zero retrieval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427" y="5005807"/>
            <a:ext cx="4047172" cy="2949892"/>
            <a:chOff x="0" y="0"/>
            <a:chExt cx="5396230" cy="3933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5595" cy="3932682"/>
            </a:xfrm>
            <a:custGeom>
              <a:avLst/>
              <a:gdLst/>
              <a:ahLst/>
              <a:cxnLst/>
              <a:rect r="r" b="b" t="t" l="l"/>
              <a:pathLst>
                <a:path h="3932682" w="5395595">
                  <a:moveTo>
                    <a:pt x="236855" y="0"/>
                  </a:moveTo>
                  <a:lnTo>
                    <a:pt x="146558" y="17907"/>
                  </a:lnTo>
                  <a:lnTo>
                    <a:pt x="69850" y="69215"/>
                  </a:lnTo>
                  <a:lnTo>
                    <a:pt x="18669" y="145796"/>
                  </a:lnTo>
                  <a:lnTo>
                    <a:pt x="762" y="236093"/>
                  </a:lnTo>
                  <a:lnTo>
                    <a:pt x="0" y="3696462"/>
                  </a:lnTo>
                  <a:lnTo>
                    <a:pt x="2032" y="3727450"/>
                  </a:lnTo>
                  <a:lnTo>
                    <a:pt x="31750" y="3814572"/>
                  </a:lnTo>
                  <a:lnTo>
                    <a:pt x="92329" y="3883787"/>
                  </a:lnTo>
                  <a:lnTo>
                    <a:pt x="175006" y="3924681"/>
                  </a:lnTo>
                  <a:lnTo>
                    <a:pt x="236220" y="3932682"/>
                  </a:lnTo>
                  <a:lnTo>
                    <a:pt x="5159502" y="3932682"/>
                  </a:lnTo>
                  <a:lnTo>
                    <a:pt x="5249799" y="3914775"/>
                  </a:lnTo>
                  <a:lnTo>
                    <a:pt x="5326380" y="3863467"/>
                  </a:lnTo>
                  <a:lnTo>
                    <a:pt x="5377688" y="3786886"/>
                  </a:lnTo>
                  <a:lnTo>
                    <a:pt x="5395595" y="3696589"/>
                  </a:lnTo>
                  <a:lnTo>
                    <a:pt x="5395595" y="236220"/>
                  </a:lnTo>
                  <a:lnTo>
                    <a:pt x="5377688" y="146685"/>
                  </a:lnTo>
                  <a:lnTo>
                    <a:pt x="5326380" y="69977"/>
                  </a:lnTo>
                  <a:lnTo>
                    <a:pt x="5249799" y="18669"/>
                  </a:lnTo>
                  <a:lnTo>
                    <a:pt x="5159502" y="762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8700" y="5301042"/>
            <a:ext cx="3388995" cy="11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Offline mode </a:t>
            </a:r>
          </a:p>
          <a:p>
            <a:pPr algn="l">
              <a:lnSpc>
                <a:spcPts val="3056"/>
              </a:lnSpc>
            </a:pPr>
            <a:r>
              <a:rPr lang="en-US" sz="234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Extractive answers, $0, no API key needed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005807" y="5005807"/>
            <a:ext cx="4047172" cy="2949892"/>
            <a:chOff x="0" y="0"/>
            <a:chExt cx="5396230" cy="39331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95595" cy="3932682"/>
            </a:xfrm>
            <a:custGeom>
              <a:avLst/>
              <a:gdLst/>
              <a:ahLst/>
              <a:cxnLst/>
              <a:rect r="r" b="b" t="t" l="l"/>
              <a:pathLst>
                <a:path h="3932682" w="5395595">
                  <a:moveTo>
                    <a:pt x="236855" y="0"/>
                  </a:moveTo>
                  <a:lnTo>
                    <a:pt x="146558" y="17907"/>
                  </a:lnTo>
                  <a:lnTo>
                    <a:pt x="69850" y="69215"/>
                  </a:lnTo>
                  <a:lnTo>
                    <a:pt x="18669" y="145796"/>
                  </a:lnTo>
                  <a:lnTo>
                    <a:pt x="762" y="236093"/>
                  </a:lnTo>
                  <a:lnTo>
                    <a:pt x="0" y="3696462"/>
                  </a:lnTo>
                  <a:lnTo>
                    <a:pt x="2032" y="3727450"/>
                  </a:lnTo>
                  <a:lnTo>
                    <a:pt x="31750" y="3814572"/>
                  </a:lnTo>
                  <a:lnTo>
                    <a:pt x="92329" y="3883787"/>
                  </a:lnTo>
                  <a:lnTo>
                    <a:pt x="175006" y="3924681"/>
                  </a:lnTo>
                  <a:lnTo>
                    <a:pt x="236220" y="3932682"/>
                  </a:lnTo>
                  <a:lnTo>
                    <a:pt x="5159502" y="3932682"/>
                  </a:lnTo>
                  <a:lnTo>
                    <a:pt x="5249799" y="3914775"/>
                  </a:lnTo>
                  <a:lnTo>
                    <a:pt x="5326380" y="3863467"/>
                  </a:lnTo>
                  <a:lnTo>
                    <a:pt x="5377688" y="3786886"/>
                  </a:lnTo>
                  <a:lnTo>
                    <a:pt x="5395595" y="3696589"/>
                  </a:lnTo>
                  <a:lnTo>
                    <a:pt x="5395595" y="236220"/>
                  </a:lnTo>
                  <a:lnTo>
                    <a:pt x="5377688" y="146685"/>
                  </a:lnTo>
                  <a:lnTo>
                    <a:pt x="5326380" y="69977"/>
                  </a:lnTo>
                  <a:lnTo>
                    <a:pt x="5249799" y="18669"/>
                  </a:lnTo>
                  <a:lnTo>
                    <a:pt x="5159502" y="762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202746" y="5348667"/>
            <a:ext cx="363569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b="true" sz="2349" spc="-15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Corpus-agnostic</a:t>
            </a:r>
          </a:p>
          <a:p>
            <a:pPr algn="l">
              <a:lnSpc>
                <a:spcPts val="2459"/>
              </a:lnSpc>
            </a:pPr>
            <a:r>
              <a:rPr lang="en-US" sz="2049" spc="-15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Any PDF/TXT/MD folder indexed automatically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89187" y="5005807"/>
            <a:ext cx="4047172" cy="2949892"/>
            <a:chOff x="0" y="0"/>
            <a:chExt cx="5396230" cy="39331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95595" cy="3932682"/>
            </a:xfrm>
            <a:custGeom>
              <a:avLst/>
              <a:gdLst/>
              <a:ahLst/>
              <a:cxnLst/>
              <a:rect r="r" b="b" t="t" l="l"/>
              <a:pathLst>
                <a:path h="3932682" w="5395595">
                  <a:moveTo>
                    <a:pt x="236855" y="0"/>
                  </a:moveTo>
                  <a:lnTo>
                    <a:pt x="146558" y="17907"/>
                  </a:lnTo>
                  <a:lnTo>
                    <a:pt x="69850" y="69215"/>
                  </a:lnTo>
                  <a:lnTo>
                    <a:pt x="18669" y="145796"/>
                  </a:lnTo>
                  <a:lnTo>
                    <a:pt x="762" y="236093"/>
                  </a:lnTo>
                  <a:lnTo>
                    <a:pt x="0" y="3696462"/>
                  </a:lnTo>
                  <a:lnTo>
                    <a:pt x="2032" y="3727450"/>
                  </a:lnTo>
                  <a:lnTo>
                    <a:pt x="31750" y="3814572"/>
                  </a:lnTo>
                  <a:lnTo>
                    <a:pt x="92329" y="3883787"/>
                  </a:lnTo>
                  <a:lnTo>
                    <a:pt x="175006" y="3924681"/>
                  </a:lnTo>
                  <a:lnTo>
                    <a:pt x="236220" y="3932682"/>
                  </a:lnTo>
                  <a:lnTo>
                    <a:pt x="5159502" y="3932682"/>
                  </a:lnTo>
                  <a:lnTo>
                    <a:pt x="5249799" y="3914775"/>
                  </a:lnTo>
                  <a:lnTo>
                    <a:pt x="5326380" y="3863467"/>
                  </a:lnTo>
                  <a:lnTo>
                    <a:pt x="5377688" y="3786886"/>
                  </a:lnTo>
                  <a:lnTo>
                    <a:pt x="5395595" y="3696589"/>
                  </a:lnTo>
                  <a:lnTo>
                    <a:pt x="5395595" y="236220"/>
                  </a:lnTo>
                  <a:lnTo>
                    <a:pt x="5377688" y="146685"/>
                  </a:lnTo>
                  <a:lnTo>
                    <a:pt x="5326380" y="69977"/>
                  </a:lnTo>
                  <a:lnTo>
                    <a:pt x="5249799" y="18669"/>
                  </a:lnTo>
                  <a:lnTo>
                    <a:pt x="5159502" y="762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386354" y="5301042"/>
            <a:ext cx="3434715" cy="11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b="true" sz="2349" spc="-16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Full observability</a:t>
            </a:r>
          </a:p>
          <a:p>
            <a:pPr algn="l">
              <a:lnSpc>
                <a:spcPts val="3056"/>
              </a:lnSpc>
            </a:pPr>
            <a:r>
              <a:rPr lang="en-US" b="true" sz="2349" spc="-18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349" spc="-18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JSONL events plus benchmark report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372567" y="5005807"/>
            <a:ext cx="4047172" cy="2949892"/>
            <a:chOff x="0" y="0"/>
            <a:chExt cx="5396230" cy="39331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95595" cy="3932682"/>
            </a:xfrm>
            <a:custGeom>
              <a:avLst/>
              <a:gdLst/>
              <a:ahLst/>
              <a:cxnLst/>
              <a:rect r="r" b="b" t="t" l="l"/>
              <a:pathLst>
                <a:path h="3932682" w="5395595">
                  <a:moveTo>
                    <a:pt x="236855" y="0"/>
                  </a:moveTo>
                  <a:lnTo>
                    <a:pt x="146558" y="17907"/>
                  </a:lnTo>
                  <a:lnTo>
                    <a:pt x="69850" y="69215"/>
                  </a:lnTo>
                  <a:lnTo>
                    <a:pt x="18669" y="145796"/>
                  </a:lnTo>
                  <a:lnTo>
                    <a:pt x="762" y="236093"/>
                  </a:lnTo>
                  <a:lnTo>
                    <a:pt x="0" y="3696462"/>
                  </a:lnTo>
                  <a:lnTo>
                    <a:pt x="2032" y="3727450"/>
                  </a:lnTo>
                  <a:lnTo>
                    <a:pt x="31750" y="3814572"/>
                  </a:lnTo>
                  <a:lnTo>
                    <a:pt x="92329" y="3883787"/>
                  </a:lnTo>
                  <a:lnTo>
                    <a:pt x="175006" y="3924681"/>
                  </a:lnTo>
                  <a:lnTo>
                    <a:pt x="236220" y="3932682"/>
                  </a:lnTo>
                  <a:lnTo>
                    <a:pt x="5159502" y="3932682"/>
                  </a:lnTo>
                  <a:lnTo>
                    <a:pt x="5249799" y="3914775"/>
                  </a:lnTo>
                  <a:lnTo>
                    <a:pt x="5326380" y="3863467"/>
                  </a:lnTo>
                  <a:lnTo>
                    <a:pt x="5377688" y="3786886"/>
                  </a:lnTo>
                  <a:lnTo>
                    <a:pt x="5395595" y="3696589"/>
                  </a:lnTo>
                  <a:lnTo>
                    <a:pt x="5395595" y="236220"/>
                  </a:lnTo>
                  <a:lnTo>
                    <a:pt x="5377688" y="146685"/>
                  </a:lnTo>
                  <a:lnTo>
                    <a:pt x="5326380" y="69977"/>
                  </a:lnTo>
                  <a:lnTo>
                    <a:pt x="5249799" y="18669"/>
                  </a:lnTo>
                  <a:lnTo>
                    <a:pt x="5159502" y="762"/>
                  </a:lnTo>
                  <a:lnTo>
                    <a:pt x="236855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569506" y="5301042"/>
            <a:ext cx="3377565" cy="117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Ablation-backed</a:t>
            </a:r>
          </a:p>
          <a:p>
            <a:pPr algn="l">
              <a:lnSpc>
                <a:spcPts val="3056"/>
              </a:lnSpc>
            </a:pPr>
            <a:r>
              <a:rPr lang="en-US" sz="2349" b="true">
                <a:solidFill>
                  <a:srgbClr val="6C27D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349">
                <a:solidFill>
                  <a:srgbClr val="13132A"/>
                </a:solidFill>
                <a:latin typeface="Arial MT Pro"/>
                <a:ea typeface="Arial MT Pro"/>
                <a:cs typeface="Arial MT Pro"/>
                <a:sym typeface="Arial MT Pro"/>
              </a:rPr>
              <a:t>Baseline and 3 ablations show each part matters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427" y="8229067"/>
            <a:ext cx="16596360" cy="1234440"/>
            <a:chOff x="0" y="0"/>
            <a:chExt cx="22128480" cy="1645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-127"/>
              <a:ext cx="22128353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353">
                  <a:moveTo>
                    <a:pt x="22029165" y="127"/>
                  </a:moveTo>
                  <a:lnTo>
                    <a:pt x="81407" y="127"/>
                  </a:lnTo>
                  <a:lnTo>
                    <a:pt x="64008" y="4445"/>
                  </a:lnTo>
                  <a:lnTo>
                    <a:pt x="7239" y="60833"/>
                  </a:lnTo>
                  <a:lnTo>
                    <a:pt x="0" y="98806"/>
                  </a:lnTo>
                  <a:lnTo>
                    <a:pt x="0" y="1564640"/>
                  </a:lnTo>
                  <a:lnTo>
                    <a:pt x="48895" y="1632966"/>
                  </a:lnTo>
                  <a:lnTo>
                    <a:pt x="85979" y="1645158"/>
                  </a:lnTo>
                  <a:lnTo>
                    <a:pt x="86741" y="1645158"/>
                  </a:lnTo>
                  <a:lnTo>
                    <a:pt x="98552" y="1645920"/>
                  </a:lnTo>
                  <a:lnTo>
                    <a:pt x="22047073" y="1645158"/>
                  </a:lnTo>
                  <a:lnTo>
                    <a:pt x="22115399" y="1596263"/>
                  </a:lnTo>
                  <a:lnTo>
                    <a:pt x="22128353" y="1546606"/>
                  </a:lnTo>
                  <a:lnTo>
                    <a:pt x="22127590" y="98679"/>
                  </a:lnTo>
                  <a:lnTo>
                    <a:pt x="22127590" y="81407"/>
                  </a:lnTo>
                  <a:lnTo>
                    <a:pt x="22078696" y="12954"/>
                  </a:lnTo>
                  <a:lnTo>
                    <a:pt x="22041993" y="762"/>
                  </a:lnTo>
                  <a:lnTo>
                    <a:pt x="22029038" y="0"/>
                  </a:lnTo>
                  <a:close/>
                </a:path>
              </a:pathLst>
            </a:custGeom>
            <a:solidFill>
              <a:srgbClr val="6C27D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62367" y="8463648"/>
            <a:ext cx="15696248" cy="76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Differentiator in one line: a live engine that knows when to search, what to search, and when to admit it does not know.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 descr="$PPTXTitle"/>
          <p:cNvSpPr txBox="true"/>
          <p:nvPr/>
        </p:nvSpPr>
        <p:spPr>
          <a:xfrm rot="0">
            <a:off x="814861" y="590550"/>
            <a:ext cx="859797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6F4DA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Checklist- Updated on Public GitHub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14861" y="1774981"/>
          <a:ext cx="16573500" cy="6286500"/>
        </p:xfrm>
        <a:graphic>
          <a:graphicData uri="http://schemas.openxmlformats.org/drawingml/2006/table">
            <a:tbl>
              <a:tblPr/>
              <a:tblGrid>
                <a:gridCol w="7111566"/>
                <a:gridCol w="2214333"/>
                <a:gridCol w="7247601"/>
              </a:tblGrid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30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Item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14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Done (Y/N)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 spc="-14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Notes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27D8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Working prototype in public GitHub repo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7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github.com/divyadharshini165/streaming-live-rag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README with reproducible setup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7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Docker one-command run verified, hybrid mode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Release tag PRISM_GENAI_HACKATHON_Y2026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7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Pushed on final commit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Tests and benchmark (G1-G6)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7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5 pytest passing; 22-session eval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Presentation (PPT + PDF)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7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Template followed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Demo video (&lt;=5 min)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7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To be recorded, link to be added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Architecture brief (&lt;=6 pages)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7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In progress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Evaluation report (3 failures, 2 ablations)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7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14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Data ready in eval/results/report.md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AI disclosure document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spc="-75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3132A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Fill Samsung disclosure form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F"/>
                    </a:solidFill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821874" y="8297647"/>
            <a:ext cx="16597312" cy="1166812"/>
            <a:chOff x="0" y="0"/>
            <a:chExt cx="22129750" cy="155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9116" cy="1555242"/>
            </a:xfrm>
            <a:custGeom>
              <a:avLst/>
              <a:gdLst/>
              <a:ahLst/>
              <a:cxnLst/>
              <a:rect r="r" b="b" t="t" l="l"/>
              <a:pathLst>
                <a:path h="1555242" w="22129116">
                  <a:moveTo>
                    <a:pt x="77724" y="0"/>
                  </a:moveTo>
                  <a:lnTo>
                    <a:pt x="61214" y="4318"/>
                  </a:lnTo>
                  <a:lnTo>
                    <a:pt x="47498" y="12954"/>
                  </a:lnTo>
                  <a:lnTo>
                    <a:pt x="33147" y="20828"/>
                  </a:lnTo>
                  <a:lnTo>
                    <a:pt x="0" y="1478153"/>
                  </a:lnTo>
                  <a:lnTo>
                    <a:pt x="4191" y="1494028"/>
                  </a:lnTo>
                  <a:lnTo>
                    <a:pt x="4318" y="1494790"/>
                  </a:lnTo>
                  <a:lnTo>
                    <a:pt x="12954" y="1508506"/>
                  </a:lnTo>
                  <a:lnTo>
                    <a:pt x="20828" y="1522857"/>
                  </a:lnTo>
                  <a:lnTo>
                    <a:pt x="33020" y="1534414"/>
                  </a:lnTo>
                  <a:lnTo>
                    <a:pt x="46736" y="1543050"/>
                  </a:lnTo>
                  <a:lnTo>
                    <a:pt x="61087" y="1550924"/>
                  </a:lnTo>
                  <a:lnTo>
                    <a:pt x="76962" y="1555242"/>
                  </a:lnTo>
                  <a:lnTo>
                    <a:pt x="22052153" y="1555242"/>
                  </a:lnTo>
                  <a:lnTo>
                    <a:pt x="22068664" y="1550924"/>
                  </a:lnTo>
                  <a:lnTo>
                    <a:pt x="22082379" y="1542288"/>
                  </a:lnTo>
                  <a:lnTo>
                    <a:pt x="22096730" y="1534414"/>
                  </a:lnTo>
                  <a:lnTo>
                    <a:pt x="22108288" y="1522222"/>
                  </a:lnTo>
                  <a:lnTo>
                    <a:pt x="22116923" y="1508506"/>
                  </a:lnTo>
                  <a:lnTo>
                    <a:pt x="22124797" y="1494155"/>
                  </a:lnTo>
                  <a:lnTo>
                    <a:pt x="22129116" y="1478280"/>
                  </a:lnTo>
                  <a:lnTo>
                    <a:pt x="22128989" y="77216"/>
                  </a:lnTo>
                  <a:lnTo>
                    <a:pt x="22124797" y="61341"/>
                  </a:lnTo>
                  <a:lnTo>
                    <a:pt x="22116162" y="47625"/>
                  </a:lnTo>
                  <a:lnTo>
                    <a:pt x="22108288" y="33274"/>
                  </a:lnTo>
                  <a:lnTo>
                    <a:pt x="22096095" y="21717"/>
                  </a:lnTo>
                  <a:lnTo>
                    <a:pt x="22082379" y="13081"/>
                  </a:lnTo>
                  <a:lnTo>
                    <a:pt x="22068028" y="5207"/>
                  </a:lnTo>
                  <a:lnTo>
                    <a:pt x="22052153" y="889"/>
                  </a:lnTo>
                  <a:lnTo>
                    <a:pt x="77724" y="0"/>
                  </a:lnTo>
                  <a:close/>
                </a:path>
              </a:pathLst>
            </a:custGeom>
            <a:solidFill>
              <a:srgbClr val="F2ED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42183" y="8519103"/>
            <a:ext cx="15203635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299" b="true">
                <a:solidFill>
                  <a:srgbClr val="6C27D8"/>
                </a:solidFill>
                <a:latin typeface="Arial Bold"/>
                <a:ea typeface="Arial Bold"/>
                <a:cs typeface="Arial Bold"/>
                <a:sym typeface="Arial Bold"/>
              </a:rPr>
              <a:t>Team: Live RAGrets, SRM Institute of Science and Technology, Kattankulathur. Members 2-4: &lt;name, email&gt; to be filled.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9641" y="5685844"/>
            <a:ext cx="4415790" cy="110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6900" b="true">
                <a:solidFill>
                  <a:srgbClr val="13132A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6277" y="8905313"/>
            <a:ext cx="7401878" cy="30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2627D"/>
                </a:solidFill>
                <a:latin typeface="Calibri (MS)"/>
                <a:ea typeface="Calibri (MS)"/>
                <a:cs typeface="Calibri (MS)"/>
                <a:sym typeface="Calibri (MS)"/>
              </a:rPr>
              <a:t>Organised by the Language AI Team and the PRISM Team, Samsung R&amp;D Institute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DAHWrYB35SA</dc:identifier>
  <dcterms:modified xsi:type="dcterms:W3CDTF">2011-08-01T06:04:30Z</dcterms:modified>
  <cp:revision>1</cp:revision>
  <dc:title>LiveRAGrets_Streaming_Live_RAG_Submission (1).pptx</dc:title>
</cp:coreProperties>
</file>